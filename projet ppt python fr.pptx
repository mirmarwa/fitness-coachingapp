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88E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91" d="100"/>
          <a:sy n="91" d="100"/>
        </p:scale>
        <p:origin x="56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25080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24900" y="0"/>
            <a:ext cx="2926080" cy="5143500"/>
          </a:xfrm>
          <a:prstGeom prst="rect">
            <a:avLst/>
          </a:prstGeom>
          <a:solidFill>
            <a:srgbClr val="1565C0">
              <a:alpha val="20000"/>
            </a:srgbClr>
          </a:solidFill>
          <a:ln w="12700">
            <a:solidFill>
              <a:srgbClr val="1565C0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0"/>
            <a:ext cx="2011680" cy="5143500"/>
          </a:xfrm>
          <a:prstGeom prst="rect">
            <a:avLst/>
          </a:prstGeom>
          <a:solidFill>
            <a:srgbClr val="00ACC1">
              <a:alpha val="25000"/>
            </a:srgbClr>
          </a:solidFill>
          <a:ln w="12700">
            <a:solidFill>
              <a:srgbClr val="00ACC1">
                <a:alpha val="2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280160"/>
            <a:ext cx="1828800" cy="1828800"/>
          </a:xfrm>
          <a:prstGeom prst="line">
            <a:avLst/>
          </a:prstGeom>
          <a:solidFill>
            <a:srgbClr val="1E88E5">
              <a:alpha val="60000"/>
            </a:srgbClr>
          </a:solidFill>
          <a:ln w="12700">
            <a:solidFill>
              <a:srgbClr val="1E88E5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371600"/>
            <a:ext cx="1645920" cy="1645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7315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50" dirty="0" smtClean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</a:t>
            </a:r>
            <a:r>
              <a:rPr lang="en-US" sz="1000" b="1" kern="0" spc="250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FIN </a:t>
            </a:r>
            <a:r>
              <a:rPr lang="en-US" sz="1000" b="1" kern="0" spc="250" dirty="0" smtClean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D‘ANNÉE  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 de Coaching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457200" y="192024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Sportif en Ligne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457200" y="27432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Connecter Coachs et Clients · Partout · À tout moment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3154680"/>
            <a:ext cx="2286000" cy="36576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33375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Étudiants :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Azzaoui Marwa  ·  Tazi Ayoub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57200" y="36576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57200" y="4114800"/>
            <a:ext cx="1280160" cy="32004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7200" y="41148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</a:t>
            </a:r>
            <a:r>
              <a:rPr lang="en-US" sz="11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4114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64008"/>
            <a:ext cx="8412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— L'Essor du Coaching Numérique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621792"/>
            <a:ext cx="2272284" cy="256032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621792"/>
            <a:ext cx="22722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1 — INTRODUCTION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987552"/>
            <a:ext cx="274320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987552"/>
            <a:ext cx="2743200" cy="6400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115568"/>
            <a:ext cx="502920" cy="50292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61288"/>
            <a:ext cx="411480" cy="4114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033272" y="111556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1.8B+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411480" y="1664208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personnes recherchent des solutions de coaching personnalisé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246120" y="987552"/>
            <a:ext cx="274320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246120" y="987552"/>
            <a:ext cx="2743200" cy="64008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383280" y="1115568"/>
            <a:ext cx="502920" cy="50292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1161288"/>
            <a:ext cx="411480" cy="41148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959352" y="111556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8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endParaRPr lang="en-US" sz="2600" dirty="0"/>
          </a:p>
        </p:txBody>
      </p:sp>
      <p:sp>
        <p:nvSpPr>
          <p:cNvPr id="19" name="Text 15"/>
          <p:cNvSpPr/>
          <p:nvPr/>
        </p:nvSpPr>
        <p:spPr>
          <a:xfrm>
            <a:off x="3337560" y="1664208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croissance annuelle des plateformes de fitness en ligne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6172200" y="987552"/>
            <a:ext cx="274320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172200" y="987552"/>
            <a:ext cx="2743200" cy="64008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309360" y="1115568"/>
            <a:ext cx="502920" cy="50292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161288"/>
            <a:ext cx="411480" cy="41148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885432" y="111556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65%</a:t>
            </a:r>
            <a:endParaRPr lang="en-US" sz="2600" dirty="0"/>
          </a:p>
        </p:txBody>
      </p:sp>
      <p:sp>
        <p:nvSpPr>
          <p:cNvPr id="25" name="Text 20"/>
          <p:cNvSpPr/>
          <p:nvPr/>
        </p:nvSpPr>
        <p:spPr>
          <a:xfrm>
            <a:off x="6263640" y="1664208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utilisateurs préfèrent le coaching à distance au suivi en salle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320040" y="2697480"/>
            <a:ext cx="85039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320040" y="2697480"/>
            <a:ext cx="59436" cy="402336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457200" y="2697480"/>
            <a:ext cx="8321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Essor du numérique :</a:t>
            </a:r>
            <a:r>
              <a:rPr lang="en-US" sz="12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 coaching traditionnel est limité par la géographie, les horaires et les coûts élevés.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320040" y="3172968"/>
            <a:ext cx="8503920" cy="402336"/>
          </a:xfrm>
          <a:prstGeom prst="rect">
            <a:avLst/>
          </a:prstGeom>
          <a:solidFill>
            <a:srgbClr val="F0F7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320040" y="3172968"/>
            <a:ext cx="59436" cy="402336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457200" y="3172968"/>
            <a:ext cx="8321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Manque de personnalisation :</a:t>
            </a:r>
            <a:r>
              <a:rPr lang="en-US" sz="12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 programmes génériques ne s'adaptent pas aux objectifs individuels de chaque sportif.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320040" y="3648456"/>
            <a:ext cx="85039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320040" y="3648456"/>
            <a:ext cx="59436" cy="402336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457200" y="3648456"/>
            <a:ext cx="8321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de communication :</a:t>
            </a:r>
            <a:r>
              <a:rPr lang="en-US" sz="12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Sans canal unifié, le suivi entre coach et client reste informel et inefficace.</a:t>
            </a:r>
            <a:endParaRPr lang="en-US" sz="1200" dirty="0"/>
          </a:p>
        </p:txBody>
      </p:sp>
      <p:sp>
        <p:nvSpPr>
          <p:cNvPr id="35" name="Shape 30"/>
          <p:cNvSpPr/>
          <p:nvPr/>
        </p:nvSpPr>
        <p:spPr>
          <a:xfrm>
            <a:off x="320040" y="4123944"/>
            <a:ext cx="8503920" cy="402336"/>
          </a:xfrm>
          <a:prstGeom prst="rect">
            <a:avLst/>
          </a:prstGeom>
          <a:solidFill>
            <a:srgbClr val="F0F7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320040" y="4123944"/>
            <a:ext cx="59436" cy="402336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457200" y="4123944"/>
            <a:ext cx="8321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non structuré :</a:t>
            </a:r>
            <a:r>
              <a:rPr lang="en-US" sz="12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progression est notée manuellement, de façon fragmentée et sans analyse claire.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1565C0">
              <a:alpha val="12000"/>
            </a:srgbClr>
          </a:solidFill>
          <a:ln w="12700">
            <a:solidFill>
              <a:srgbClr val="1565C0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2920"/>
            <a:ext cx="9144000" cy="41148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64008"/>
            <a:ext cx="8412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Problématique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65760" y="621792"/>
            <a:ext cx="2359152" cy="256032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21792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1 — PROBLÉMATIQUE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0040" y="868680"/>
            <a:ext cx="6400800" cy="1143000"/>
          </a:xfrm>
          <a:prstGeom prst="rect">
            <a:avLst/>
          </a:prstGeom>
          <a:solidFill>
            <a:srgbClr val="0D1F3C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" y="868680"/>
            <a:ext cx="6400800" cy="54864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88696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Énoncé de la Problématique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11480" y="1170432"/>
            <a:ext cx="6263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développer une plateforme web qui permet à un coach sportif de gérer ses clients à distance — en centralisant la création de programmes, le suivi de la progression et la communication — de manière simple, efficace et accessible ?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20040" y="2212848"/>
            <a:ext cx="3108960" cy="868680"/>
          </a:xfrm>
          <a:prstGeom prst="rect">
            <a:avLst/>
          </a:prstGeom>
          <a:solidFill>
            <a:srgbClr val="0D1F3C"/>
          </a:solidFill>
          <a:ln w="6350">
            <a:solidFill>
              <a:srgbClr val="1E3A5F"/>
            </a:solidFill>
            <a:prstDash val="solid"/>
          </a:ln>
          <a:effectLst>
            <a:outerShdw blurRad="63500" dist="25400" dir="8100000" algn="bl" rotWithShape="0">
              <a:srgbClr val="000000">
                <a:alpha val="20000"/>
              </a:srgbClr>
            </a:outerShdw>
          </a:effectLst>
        </p:spPr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" y="2414016"/>
            <a:ext cx="292608" cy="292608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822960" y="230428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F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limité aux coachs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257860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bons coachs restent inaccessibles aux sportifs éloignés des grandes villes.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657600" y="2212848"/>
            <a:ext cx="3108960" cy="868680"/>
          </a:xfrm>
          <a:prstGeom prst="rect">
            <a:avLst/>
          </a:prstGeom>
          <a:solidFill>
            <a:srgbClr val="0D1F3C"/>
          </a:solidFill>
          <a:ln w="6350">
            <a:solidFill>
              <a:srgbClr val="1E3A5F"/>
            </a:solidFill>
            <a:prstDash val="solid"/>
          </a:ln>
          <a:effectLst>
            <a:outerShdw blurRad="63500" dist="25400" dir="8100000" algn="bl" rotWithShape="0">
              <a:srgbClr val="000000">
                <a:alpha val="20000"/>
              </a:srgbClr>
            </a:outerShdw>
          </a:effectLst>
        </p:spPr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7328" y="2414016"/>
            <a:ext cx="292608" cy="292608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160520" y="230428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F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Outils dispersés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4160520" y="257860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coachs jonglent entre WhatsApp, Excel et papier — sans workflow centralisé.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320040" y="3291840"/>
            <a:ext cx="3108960" cy="868680"/>
          </a:xfrm>
          <a:prstGeom prst="rect">
            <a:avLst/>
          </a:prstGeom>
          <a:solidFill>
            <a:srgbClr val="0D1F3C"/>
          </a:solidFill>
          <a:ln w="6350">
            <a:solidFill>
              <a:srgbClr val="1E3A5F"/>
            </a:solidFill>
            <a:prstDash val="solid"/>
          </a:ln>
          <a:effectLst>
            <a:outerShdw blurRad="63500" dist="25400" dir="8100000" algn="bl" rotWithShape="0">
              <a:srgbClr val="000000">
                <a:alpha val="20000"/>
              </a:srgbClr>
            </a:outerShdw>
          </a:effectLst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" y="3493008"/>
            <a:ext cx="292608" cy="29260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22960" y="33832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F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non structuré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822960" y="36576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clients n'ont pas de retour structuré ; les coachs ne peuvent pas suivre l'assiduité à distance.</a:t>
            </a:r>
            <a:endParaRPr 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3657600" y="3291840"/>
            <a:ext cx="3108960" cy="868680"/>
          </a:xfrm>
          <a:prstGeom prst="rect">
            <a:avLst/>
          </a:prstGeom>
          <a:solidFill>
            <a:srgbClr val="0D1F3C"/>
          </a:solidFill>
          <a:ln w="6350">
            <a:solidFill>
              <a:srgbClr val="1E3A5F"/>
            </a:solidFill>
            <a:prstDash val="solid"/>
          </a:ln>
          <a:effectLst>
            <a:outerShdw blurRad="63500" dist="25400" dir="8100000" algn="bl" rotWithShape="0">
              <a:srgbClr val="000000">
                <a:alpha val="20000"/>
              </a:srgbClr>
            </a:outerShdw>
          </a:effectLst>
        </p:spPr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7328" y="3493008"/>
            <a:ext cx="292608" cy="29260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4160520" y="33832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F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administrative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4160520" y="36576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gestion manuelle des rendez-vous et des programmes limite fortement la capacité d'un coach.</a:t>
            </a:r>
            <a:endParaRPr lang="en-US" sz="9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4114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64008"/>
            <a:ext cx="8412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du Projet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621792"/>
            <a:ext cx="2011680" cy="256032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6217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1 — OBJECTIFS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005840"/>
            <a:ext cx="420624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1005840"/>
            <a:ext cx="59436" cy="109728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9768" y="1188720"/>
            <a:ext cx="640080" cy="64008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216152"/>
            <a:ext cx="548640" cy="54864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188720" y="1115568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en relation Coach–Client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188720" y="1444752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Permettre aux clients de trouver un coach selon sa spécialité et de s'abonner à son programme.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709160" y="1005840"/>
            <a:ext cx="420624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709160" y="1005840"/>
            <a:ext cx="59436" cy="109728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818888" y="1188720"/>
            <a:ext cx="640080" cy="64008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4608" y="1216152"/>
            <a:ext cx="548640" cy="54864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577840" y="1115568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Programmes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5577840" y="1444752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Permettre au coach de créer des programmes d'entraînement structurés et de les assigner à ses clients.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320040" y="2240280"/>
            <a:ext cx="420624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320040" y="2240280"/>
            <a:ext cx="59436" cy="109728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29768" y="2423160"/>
            <a:ext cx="640080" cy="64008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2450592"/>
            <a:ext cx="548640" cy="54864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188720" y="2350008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la Progression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1188720" y="2679192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Offrir un tableau de bord visuel pour suivre l'évolution des performances du client dans le temps.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4709160" y="2240280"/>
            <a:ext cx="420624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4709160" y="2240280"/>
            <a:ext cx="59436" cy="109728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4818888" y="2423160"/>
            <a:ext cx="640080" cy="64008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4608" y="2450592"/>
            <a:ext cx="548640" cy="548640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5577840" y="2350008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Messagerie Intégrée</a:t>
            </a:r>
            <a:endParaRPr lang="en-US" sz="1200" dirty="0"/>
          </a:p>
        </p:txBody>
      </p:sp>
      <p:sp>
        <p:nvSpPr>
          <p:cNvPr id="31" name="Text 25"/>
          <p:cNvSpPr/>
          <p:nvPr/>
        </p:nvSpPr>
        <p:spPr>
          <a:xfrm>
            <a:off x="5577840" y="2679192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Permettre une communication directe entre coach et client au sein de la plateforme.</a:t>
            </a:r>
            <a:endParaRPr lang="en-US" sz="950" dirty="0"/>
          </a:p>
        </p:txBody>
      </p:sp>
      <p:sp>
        <p:nvSpPr>
          <p:cNvPr id="32" name="Shape 26"/>
          <p:cNvSpPr/>
          <p:nvPr/>
        </p:nvSpPr>
        <p:spPr>
          <a:xfrm>
            <a:off x="320040" y="3474720"/>
            <a:ext cx="420624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320040" y="3474720"/>
            <a:ext cx="59436" cy="109728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429768" y="3657600"/>
            <a:ext cx="640080" cy="64008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488" y="3685032"/>
            <a:ext cx="548640" cy="548640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1188720" y="3584448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Vidéo</a:t>
            </a:r>
            <a:endParaRPr lang="en-US" sz="1200" dirty="0"/>
          </a:p>
        </p:txBody>
      </p:sp>
      <p:sp>
        <p:nvSpPr>
          <p:cNvPr id="37" name="Text 30"/>
          <p:cNvSpPr/>
          <p:nvPr/>
        </p:nvSpPr>
        <p:spPr>
          <a:xfrm>
            <a:off x="1188720" y="3913632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Partager un lien Google Meet pour les séances de coaching vidéo planifiées.</a:t>
            </a:r>
            <a:endParaRPr lang="en-US" sz="950" dirty="0"/>
          </a:p>
        </p:txBody>
      </p:sp>
      <p:sp>
        <p:nvSpPr>
          <p:cNvPr id="38" name="Shape 31"/>
          <p:cNvSpPr/>
          <p:nvPr/>
        </p:nvSpPr>
        <p:spPr>
          <a:xfrm>
            <a:off x="4709160" y="3474720"/>
            <a:ext cx="420624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9" name="Shape 32"/>
          <p:cNvSpPr/>
          <p:nvPr/>
        </p:nvSpPr>
        <p:spPr>
          <a:xfrm>
            <a:off x="4709160" y="3474720"/>
            <a:ext cx="59436" cy="109728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40" name="Shape 33"/>
          <p:cNvSpPr/>
          <p:nvPr/>
        </p:nvSpPr>
        <p:spPr>
          <a:xfrm>
            <a:off x="4818888" y="3657600"/>
            <a:ext cx="640080" cy="64008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pic>
        <p:nvPicPr>
          <p:cNvPr id="4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64608" y="3685032"/>
            <a:ext cx="548640" cy="548640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5577840" y="3584448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Rendez-vous</a:t>
            </a:r>
            <a:endParaRPr lang="en-US" sz="1200" dirty="0"/>
          </a:p>
        </p:txBody>
      </p:sp>
      <p:sp>
        <p:nvSpPr>
          <p:cNvPr id="43" name="Text 35"/>
          <p:cNvSpPr/>
          <p:nvPr/>
        </p:nvSpPr>
        <p:spPr>
          <a:xfrm>
            <a:off x="5577840" y="3913632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Permettre au client de réserver une séance selon les créneaux disponibles du coach.</a:t>
            </a:r>
            <a:endParaRPr lang="en-US" sz="9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4114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64008"/>
            <a:ext cx="8412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Fonctionnalités Principales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621792"/>
            <a:ext cx="2532888" cy="256032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621792"/>
            <a:ext cx="2532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— FONCTIONNALITÉS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960120"/>
            <a:ext cx="27432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960120"/>
            <a:ext cx="2743200" cy="54864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069848"/>
            <a:ext cx="502920" cy="50292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" y="1106424"/>
            <a:ext cx="429768" cy="42976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005840" y="105156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Utilisateurs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29768" y="16459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rôles : Client et Coach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429768" y="198424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 avec spécialités et disponibilités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429768" y="2322576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abonnements aux programmes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246120" y="960120"/>
            <a:ext cx="27432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3246120" y="960120"/>
            <a:ext cx="2743200" cy="54864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337560" y="1069848"/>
            <a:ext cx="502920" cy="50292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4136" y="1106424"/>
            <a:ext cx="429768" cy="429768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3931920" y="105156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Programmes d'Entraînement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3355848" y="16459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8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 crée des programmes multi-semaines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3355848" y="198424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8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Bibliothèque d'exercices (séries, reps, lien vidéo)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3355848" y="2322576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8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Assignation aux clients abonnés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6172200" y="960120"/>
            <a:ext cx="27432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172200" y="960120"/>
            <a:ext cx="2743200" cy="54864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263640" y="1069848"/>
            <a:ext cx="502920" cy="50292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216" y="1106424"/>
            <a:ext cx="429768" cy="429768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6858000" y="105156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Progression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6281928" y="16459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de séances rempli par le client</a:t>
            </a:r>
            <a:endParaRPr lang="en-US" sz="950" dirty="0"/>
          </a:p>
        </p:txBody>
      </p:sp>
      <p:sp>
        <p:nvSpPr>
          <p:cNvPr id="30" name="Text 25"/>
          <p:cNvSpPr/>
          <p:nvPr/>
        </p:nvSpPr>
        <p:spPr>
          <a:xfrm>
            <a:off x="6281928" y="198424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Graphiques de performance dans le temps</a:t>
            </a:r>
            <a:endParaRPr lang="en-US" sz="950" dirty="0"/>
          </a:p>
        </p:txBody>
      </p:sp>
      <p:sp>
        <p:nvSpPr>
          <p:cNvPr id="31" name="Text 26"/>
          <p:cNvSpPr/>
          <p:nvPr/>
        </p:nvSpPr>
        <p:spPr>
          <a:xfrm>
            <a:off x="6281928" y="2322576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 et commentaires du coach</a:t>
            </a:r>
            <a:endParaRPr lang="en-US" sz="950" dirty="0"/>
          </a:p>
        </p:txBody>
      </p:sp>
      <p:sp>
        <p:nvSpPr>
          <p:cNvPr id="32" name="Shape 27"/>
          <p:cNvSpPr/>
          <p:nvPr/>
        </p:nvSpPr>
        <p:spPr>
          <a:xfrm>
            <a:off x="320040" y="2880360"/>
            <a:ext cx="27432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3" name="Shape 28"/>
          <p:cNvSpPr/>
          <p:nvPr/>
        </p:nvSpPr>
        <p:spPr>
          <a:xfrm>
            <a:off x="320040" y="2880360"/>
            <a:ext cx="2743200" cy="54864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411480" y="2990088"/>
            <a:ext cx="502920" cy="50292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" y="3026664"/>
            <a:ext cx="429768" cy="429768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1005840" y="297180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Messagerie</a:t>
            </a:r>
            <a:endParaRPr lang="en-US" sz="1100" dirty="0"/>
          </a:p>
        </p:txBody>
      </p:sp>
      <p:sp>
        <p:nvSpPr>
          <p:cNvPr id="37" name="Text 31"/>
          <p:cNvSpPr/>
          <p:nvPr/>
        </p:nvSpPr>
        <p:spPr>
          <a:xfrm>
            <a:off x="429768" y="356616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simple entre coach et client</a:t>
            </a:r>
            <a:endParaRPr lang="en-US" sz="950" dirty="0"/>
          </a:p>
        </p:txBody>
      </p:sp>
      <p:sp>
        <p:nvSpPr>
          <p:cNvPr id="38" name="Text 32"/>
          <p:cNvSpPr/>
          <p:nvPr/>
        </p:nvSpPr>
        <p:spPr>
          <a:xfrm>
            <a:off x="429768" y="390448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Envoi de fichiers et de plans</a:t>
            </a:r>
            <a:endParaRPr lang="en-US" sz="950" dirty="0"/>
          </a:p>
        </p:txBody>
      </p:sp>
      <p:sp>
        <p:nvSpPr>
          <p:cNvPr id="39" name="Text 33"/>
          <p:cNvSpPr/>
          <p:nvPr/>
        </p:nvSpPr>
        <p:spPr>
          <a:xfrm>
            <a:off x="429768" y="4242816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à la réception d'un message</a:t>
            </a:r>
            <a:endParaRPr lang="en-US" sz="950" dirty="0"/>
          </a:p>
        </p:txBody>
      </p:sp>
      <p:sp>
        <p:nvSpPr>
          <p:cNvPr id="40" name="Shape 34"/>
          <p:cNvSpPr/>
          <p:nvPr/>
        </p:nvSpPr>
        <p:spPr>
          <a:xfrm>
            <a:off x="3246120" y="2880360"/>
            <a:ext cx="27432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1" name="Shape 35"/>
          <p:cNvSpPr/>
          <p:nvPr/>
        </p:nvSpPr>
        <p:spPr>
          <a:xfrm>
            <a:off x="3246120" y="2880360"/>
            <a:ext cx="2743200" cy="54864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2" name="Shape 36"/>
          <p:cNvSpPr/>
          <p:nvPr/>
        </p:nvSpPr>
        <p:spPr>
          <a:xfrm>
            <a:off x="3337560" y="2990088"/>
            <a:ext cx="502920" cy="50292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pic>
        <p:nvPicPr>
          <p:cNvPr id="4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74136" y="3026664"/>
            <a:ext cx="429768" cy="429768"/>
          </a:xfrm>
          <a:prstGeom prst="rect">
            <a:avLst/>
          </a:prstGeom>
        </p:spPr>
      </p:pic>
      <p:sp>
        <p:nvSpPr>
          <p:cNvPr id="44" name="Text 37"/>
          <p:cNvSpPr/>
          <p:nvPr/>
        </p:nvSpPr>
        <p:spPr>
          <a:xfrm>
            <a:off x="3931920" y="297180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Rendez-vous</a:t>
            </a:r>
            <a:endParaRPr lang="en-US" sz="1100" dirty="0"/>
          </a:p>
        </p:txBody>
      </p:sp>
      <p:sp>
        <p:nvSpPr>
          <p:cNvPr id="45" name="Text 38"/>
          <p:cNvSpPr/>
          <p:nvPr/>
        </p:nvSpPr>
        <p:spPr>
          <a:xfrm>
            <a:off x="3355848" y="356616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8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Réservation de créneaux par le client</a:t>
            </a:r>
            <a:endParaRPr lang="en-US" sz="950" dirty="0"/>
          </a:p>
        </p:txBody>
      </p:sp>
      <p:sp>
        <p:nvSpPr>
          <p:cNvPr id="46" name="Text 39"/>
          <p:cNvSpPr/>
          <p:nvPr/>
        </p:nvSpPr>
        <p:spPr>
          <a:xfrm>
            <a:off x="3355848" y="390448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8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coach définit ses disponibilités</a:t>
            </a:r>
            <a:endParaRPr lang="en-US" sz="950" dirty="0"/>
          </a:p>
        </p:txBody>
      </p:sp>
      <p:sp>
        <p:nvSpPr>
          <p:cNvPr id="47" name="Text 40"/>
          <p:cNvSpPr/>
          <p:nvPr/>
        </p:nvSpPr>
        <p:spPr>
          <a:xfrm>
            <a:off x="3355848" y="4242816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8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et rappel automatique par email</a:t>
            </a:r>
            <a:endParaRPr lang="en-US" sz="950" dirty="0"/>
          </a:p>
        </p:txBody>
      </p:sp>
      <p:sp>
        <p:nvSpPr>
          <p:cNvPr id="48" name="Shape 41"/>
          <p:cNvSpPr/>
          <p:nvPr/>
        </p:nvSpPr>
        <p:spPr>
          <a:xfrm>
            <a:off x="6172200" y="2880360"/>
            <a:ext cx="27432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9" name="Shape 42"/>
          <p:cNvSpPr/>
          <p:nvPr/>
        </p:nvSpPr>
        <p:spPr>
          <a:xfrm>
            <a:off x="6172200" y="2880360"/>
            <a:ext cx="2743200" cy="54864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50" name="Shape 43"/>
          <p:cNvSpPr/>
          <p:nvPr/>
        </p:nvSpPr>
        <p:spPr>
          <a:xfrm>
            <a:off x="6263640" y="2990088"/>
            <a:ext cx="502920" cy="50292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pic>
        <p:nvPicPr>
          <p:cNvPr id="5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0216" y="3026664"/>
            <a:ext cx="429768" cy="429768"/>
          </a:xfrm>
          <a:prstGeom prst="rect">
            <a:avLst/>
          </a:prstGeom>
        </p:spPr>
      </p:pic>
      <p:sp>
        <p:nvSpPr>
          <p:cNvPr id="52" name="Text 44"/>
          <p:cNvSpPr/>
          <p:nvPr/>
        </p:nvSpPr>
        <p:spPr>
          <a:xfrm>
            <a:off x="6858000" y="297180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Vidéo</a:t>
            </a:r>
            <a:endParaRPr lang="en-US" sz="1100" dirty="0"/>
          </a:p>
        </p:txBody>
      </p:sp>
      <p:sp>
        <p:nvSpPr>
          <p:cNvPr id="53" name="Text 45"/>
          <p:cNvSpPr/>
          <p:nvPr/>
        </p:nvSpPr>
        <p:spPr>
          <a:xfrm>
            <a:off x="6281928" y="356616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Lien Google Meet partagé via la plateforme</a:t>
            </a:r>
            <a:endParaRPr lang="en-US" sz="950" dirty="0"/>
          </a:p>
        </p:txBody>
      </p:sp>
      <p:sp>
        <p:nvSpPr>
          <p:cNvPr id="54" name="Text 46"/>
          <p:cNvSpPr/>
          <p:nvPr/>
        </p:nvSpPr>
        <p:spPr>
          <a:xfrm>
            <a:off x="6281928" y="390448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 planifiée lors d'un rendez-vous</a:t>
            </a:r>
            <a:endParaRPr lang="en-US" sz="950" dirty="0"/>
          </a:p>
        </p:txBody>
      </p:sp>
      <p:sp>
        <p:nvSpPr>
          <p:cNvPr id="55" name="Text 47"/>
          <p:cNvSpPr/>
          <p:nvPr/>
        </p:nvSpPr>
        <p:spPr>
          <a:xfrm>
            <a:off x="6281928" y="4242816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la séance dans l'historique</a:t>
            </a:r>
            <a:endParaRPr lang="en-US" sz="9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41148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64008"/>
            <a:ext cx="8412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du Marché — Solutions Existantes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621792"/>
            <a:ext cx="2880360" cy="256032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621792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— ÉTUDE DE L'EXISTANT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960120"/>
            <a:ext cx="2743200" cy="50292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9601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Freeletics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20040" y="1463040"/>
            <a:ext cx="2743200" cy="292608"/>
          </a:xfrm>
          <a:prstGeom prst="rect">
            <a:avLst/>
          </a:prstGeom>
          <a:solidFill>
            <a:srgbClr val="E8F5E9"/>
          </a:solidFill>
          <a:ln w="6350">
            <a:solidFill>
              <a:srgbClr val="A5D6A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4630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POINTS FORTS</a:t>
            </a:r>
            <a:endParaRPr lang="en-US" sz="900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810512"/>
            <a:ext cx="182880" cy="1828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67512" y="17830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Entraînement adaptatif automatisé</a:t>
            </a:r>
            <a:endParaRPr lang="en-US" sz="95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221992"/>
            <a:ext cx="182880" cy="1828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67512" y="21945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bibliothèque d'exercices vidéo</a:t>
            </a:r>
            <a:endParaRPr lang="en-US" sz="95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633472"/>
            <a:ext cx="182880" cy="1828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67512" y="2606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 communauté et gamification</a:t>
            </a:r>
            <a:endParaRPr lang="en-US" sz="950" dirty="0"/>
          </a:p>
        </p:txBody>
      </p:sp>
      <p:sp>
        <p:nvSpPr>
          <p:cNvPr id="18" name="Shape 13"/>
          <p:cNvSpPr/>
          <p:nvPr/>
        </p:nvSpPr>
        <p:spPr>
          <a:xfrm>
            <a:off x="320040" y="3063240"/>
            <a:ext cx="2743200" cy="292608"/>
          </a:xfrm>
          <a:prstGeom prst="rect">
            <a:avLst/>
          </a:prstGeom>
          <a:solidFill>
            <a:srgbClr val="FFEBEE"/>
          </a:solidFill>
          <a:ln w="6350">
            <a:solidFill>
              <a:srgbClr val="EF9A9A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11480" y="30632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LIMITES</a:t>
            </a:r>
            <a:endParaRPr lang="en-US" sz="90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410712"/>
            <a:ext cx="182880" cy="18288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67512" y="3383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D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coach humain réel</a:t>
            </a:r>
            <a:endParaRPr lang="en-US" sz="950" dirty="0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822192"/>
            <a:ext cx="182880" cy="18288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67512" y="37947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D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communication directe avec un coach</a:t>
            </a:r>
            <a:endParaRPr lang="en-US" sz="950" dirty="0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233672"/>
            <a:ext cx="182880" cy="18288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667512" y="42062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D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Programmes génériques, peu personnalisés</a:t>
            </a:r>
            <a:endParaRPr lang="en-US" sz="950" dirty="0"/>
          </a:p>
        </p:txBody>
      </p:sp>
      <p:sp>
        <p:nvSpPr>
          <p:cNvPr id="26" name="Shape 18"/>
          <p:cNvSpPr/>
          <p:nvPr/>
        </p:nvSpPr>
        <p:spPr>
          <a:xfrm>
            <a:off x="3246120" y="960120"/>
            <a:ext cx="2743200" cy="50292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7" name="Text 19"/>
          <p:cNvSpPr/>
          <p:nvPr/>
        </p:nvSpPr>
        <p:spPr>
          <a:xfrm>
            <a:off x="3246120" y="9601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Fittr</a:t>
            </a:r>
            <a:endParaRPr lang="en-US" sz="1500" dirty="0"/>
          </a:p>
        </p:txBody>
      </p:sp>
      <p:sp>
        <p:nvSpPr>
          <p:cNvPr id="28" name="Shape 20"/>
          <p:cNvSpPr/>
          <p:nvPr/>
        </p:nvSpPr>
        <p:spPr>
          <a:xfrm>
            <a:off x="3246120" y="1463040"/>
            <a:ext cx="2743200" cy="292608"/>
          </a:xfrm>
          <a:prstGeom prst="rect">
            <a:avLst/>
          </a:prstGeom>
          <a:solidFill>
            <a:srgbClr val="E8F5E9"/>
          </a:solidFill>
          <a:ln w="6350">
            <a:solidFill>
              <a:srgbClr val="A5D6A7"/>
            </a:solidFill>
            <a:prstDash val="solid"/>
          </a:ln>
        </p:spPr>
      </p:sp>
      <p:sp>
        <p:nvSpPr>
          <p:cNvPr id="29" name="Text 21"/>
          <p:cNvSpPr/>
          <p:nvPr/>
        </p:nvSpPr>
        <p:spPr>
          <a:xfrm>
            <a:off x="3337560" y="14630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POINTS FORTS</a:t>
            </a:r>
            <a:endParaRPr lang="en-US" sz="900" dirty="0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810512"/>
            <a:ext cx="182880" cy="182880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3593592" y="17830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 humain attribué individuellement</a:t>
            </a:r>
            <a:endParaRPr lang="en-US" sz="950" dirty="0"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2221992"/>
            <a:ext cx="182880" cy="18288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3593592" y="21945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nutrition + entraînement</a:t>
            </a:r>
            <a:endParaRPr lang="en-US" sz="950" dirty="0"/>
          </a:p>
        </p:txBody>
      </p:sp>
      <p:pic>
        <p:nvPicPr>
          <p:cNvPr id="34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2633472"/>
            <a:ext cx="182880" cy="182880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3593592" y="2606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photo de la progression</a:t>
            </a:r>
            <a:endParaRPr lang="en-US" sz="950" dirty="0"/>
          </a:p>
        </p:txBody>
      </p:sp>
      <p:sp>
        <p:nvSpPr>
          <p:cNvPr id="36" name="Shape 25"/>
          <p:cNvSpPr/>
          <p:nvPr/>
        </p:nvSpPr>
        <p:spPr>
          <a:xfrm>
            <a:off x="3246120" y="3063240"/>
            <a:ext cx="2743200" cy="292608"/>
          </a:xfrm>
          <a:prstGeom prst="rect">
            <a:avLst/>
          </a:prstGeom>
          <a:solidFill>
            <a:srgbClr val="FFEBEE"/>
          </a:solidFill>
          <a:ln w="6350">
            <a:solidFill>
              <a:srgbClr val="EF9A9A"/>
            </a:solidFill>
            <a:prstDash val="solid"/>
          </a:ln>
        </p:spPr>
      </p:sp>
      <p:sp>
        <p:nvSpPr>
          <p:cNvPr id="37" name="Text 26"/>
          <p:cNvSpPr/>
          <p:nvPr/>
        </p:nvSpPr>
        <p:spPr>
          <a:xfrm>
            <a:off x="3337560" y="30632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LIMITES</a:t>
            </a:r>
            <a:endParaRPr lang="en-US" sz="900" dirty="0"/>
          </a:p>
        </p:txBody>
      </p:sp>
      <p:pic>
        <p:nvPicPr>
          <p:cNvPr id="38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3410712"/>
            <a:ext cx="182880" cy="182880"/>
          </a:xfrm>
          <a:prstGeom prst="rect">
            <a:avLst/>
          </a:prstGeom>
        </p:spPr>
      </p:pic>
      <p:sp>
        <p:nvSpPr>
          <p:cNvPr id="39" name="Text 27"/>
          <p:cNvSpPr/>
          <p:nvPr/>
        </p:nvSpPr>
        <p:spPr>
          <a:xfrm>
            <a:off x="3593592" y="3383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D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sessions vidéo</a:t>
            </a:r>
            <a:endParaRPr lang="en-US" sz="950" dirty="0"/>
          </a:p>
        </p:txBody>
      </p:sp>
      <p:pic>
        <p:nvPicPr>
          <p:cNvPr id="40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3822192"/>
            <a:ext cx="182880" cy="182880"/>
          </a:xfrm>
          <a:prstGeom prst="rect">
            <a:avLst/>
          </a:prstGeom>
        </p:spPr>
      </p:pic>
      <p:sp>
        <p:nvSpPr>
          <p:cNvPr id="41" name="Text 28"/>
          <p:cNvSpPr/>
          <p:nvPr/>
        </p:nvSpPr>
        <p:spPr>
          <a:xfrm>
            <a:off x="3593592" y="37947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D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Limité au fitness/régime alimentaire</a:t>
            </a:r>
            <a:endParaRPr lang="en-US" sz="950" dirty="0"/>
          </a:p>
        </p:txBody>
      </p:sp>
      <p:pic>
        <p:nvPicPr>
          <p:cNvPr id="42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4233672"/>
            <a:ext cx="182880" cy="182880"/>
          </a:xfrm>
          <a:prstGeom prst="rect">
            <a:avLst/>
          </a:prstGeom>
        </p:spPr>
      </p:pic>
      <p:sp>
        <p:nvSpPr>
          <p:cNvPr id="43" name="Text 29"/>
          <p:cNvSpPr/>
          <p:nvPr/>
        </p:nvSpPr>
        <p:spPr>
          <a:xfrm>
            <a:off x="3593592" y="42062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D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Messagerie basique, pas de chat en temps réel</a:t>
            </a:r>
            <a:endParaRPr lang="en-US" sz="950" dirty="0"/>
          </a:p>
        </p:txBody>
      </p:sp>
      <p:sp>
        <p:nvSpPr>
          <p:cNvPr id="44" name="Shape 30"/>
          <p:cNvSpPr/>
          <p:nvPr/>
        </p:nvSpPr>
        <p:spPr>
          <a:xfrm>
            <a:off x="6172200" y="960120"/>
            <a:ext cx="2743200" cy="50292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45" name="Text 31"/>
          <p:cNvSpPr/>
          <p:nvPr/>
        </p:nvSpPr>
        <p:spPr>
          <a:xfrm>
            <a:off x="6172200" y="9601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MyFitnessPal</a:t>
            </a:r>
            <a:endParaRPr lang="en-US" sz="1500" dirty="0"/>
          </a:p>
        </p:txBody>
      </p:sp>
      <p:sp>
        <p:nvSpPr>
          <p:cNvPr id="46" name="Shape 32"/>
          <p:cNvSpPr/>
          <p:nvPr/>
        </p:nvSpPr>
        <p:spPr>
          <a:xfrm>
            <a:off x="6172200" y="1463040"/>
            <a:ext cx="2743200" cy="292608"/>
          </a:xfrm>
          <a:prstGeom prst="rect">
            <a:avLst/>
          </a:prstGeom>
          <a:solidFill>
            <a:srgbClr val="E8F5E9"/>
          </a:solidFill>
          <a:ln w="6350">
            <a:solidFill>
              <a:srgbClr val="A5D6A7"/>
            </a:solidFill>
            <a:prstDash val="solid"/>
          </a:ln>
        </p:spPr>
      </p:sp>
      <p:sp>
        <p:nvSpPr>
          <p:cNvPr id="47" name="Text 33"/>
          <p:cNvSpPr/>
          <p:nvPr/>
        </p:nvSpPr>
        <p:spPr>
          <a:xfrm>
            <a:off x="6263640" y="14630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POINTS FORTS</a:t>
            </a:r>
            <a:endParaRPr lang="en-US" sz="900" dirty="0"/>
          </a:p>
        </p:txBody>
      </p:sp>
      <p:pic>
        <p:nvPicPr>
          <p:cNvPr id="48" name="Image 1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810512"/>
            <a:ext cx="182880" cy="182880"/>
          </a:xfrm>
          <a:prstGeom prst="rect">
            <a:avLst/>
          </a:prstGeom>
        </p:spPr>
      </p:pic>
      <p:sp>
        <p:nvSpPr>
          <p:cNvPr id="49" name="Text 34"/>
          <p:cNvSpPr/>
          <p:nvPr/>
        </p:nvSpPr>
        <p:spPr>
          <a:xfrm>
            <a:off x="6519672" y="17830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grande base de données alimentaires</a:t>
            </a:r>
            <a:endParaRPr lang="en-US" sz="950" dirty="0"/>
          </a:p>
        </p:txBody>
      </p:sp>
      <p:pic>
        <p:nvPicPr>
          <p:cNvPr id="50" name="Image 1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221992"/>
            <a:ext cx="182880" cy="182880"/>
          </a:xfrm>
          <a:prstGeom prst="rect">
            <a:avLst/>
          </a:prstGeom>
        </p:spPr>
      </p:pic>
      <p:sp>
        <p:nvSpPr>
          <p:cNvPr id="51" name="Text 35"/>
          <p:cNvSpPr/>
          <p:nvPr/>
        </p:nvSpPr>
        <p:spPr>
          <a:xfrm>
            <a:off x="6519672" y="21945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des calories et macronutriments</a:t>
            </a:r>
            <a:endParaRPr lang="en-US" sz="950" dirty="0"/>
          </a:p>
        </p:txBody>
      </p:sp>
      <p:pic>
        <p:nvPicPr>
          <p:cNvPr id="52" name="Image 1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633472"/>
            <a:ext cx="182880" cy="182880"/>
          </a:xfrm>
          <a:prstGeom prst="rect">
            <a:avLst/>
          </a:prstGeom>
        </p:spPr>
      </p:pic>
      <p:sp>
        <p:nvSpPr>
          <p:cNvPr id="53" name="Text 36"/>
          <p:cNvSpPr/>
          <p:nvPr/>
        </p:nvSpPr>
        <p:spPr>
          <a:xfrm>
            <a:off x="6519672" y="2606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avec plus de 50 applis/appareils</a:t>
            </a:r>
            <a:endParaRPr lang="en-US" sz="950" dirty="0"/>
          </a:p>
        </p:txBody>
      </p:sp>
      <p:sp>
        <p:nvSpPr>
          <p:cNvPr id="54" name="Shape 37"/>
          <p:cNvSpPr/>
          <p:nvPr/>
        </p:nvSpPr>
        <p:spPr>
          <a:xfrm>
            <a:off x="6172200" y="3063240"/>
            <a:ext cx="2743200" cy="292608"/>
          </a:xfrm>
          <a:prstGeom prst="rect">
            <a:avLst/>
          </a:prstGeom>
          <a:solidFill>
            <a:srgbClr val="FFEBEE"/>
          </a:solidFill>
          <a:ln w="6350">
            <a:solidFill>
              <a:srgbClr val="EF9A9A"/>
            </a:solidFill>
            <a:prstDash val="solid"/>
          </a:ln>
        </p:spPr>
      </p:sp>
      <p:sp>
        <p:nvSpPr>
          <p:cNvPr id="55" name="Text 38"/>
          <p:cNvSpPr/>
          <p:nvPr/>
        </p:nvSpPr>
        <p:spPr>
          <a:xfrm>
            <a:off x="6263640" y="30632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LIMITES</a:t>
            </a:r>
            <a:endParaRPr lang="en-US" sz="900" dirty="0"/>
          </a:p>
        </p:txBody>
      </p:sp>
      <p:pic>
        <p:nvPicPr>
          <p:cNvPr id="56" name="Image 1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3410712"/>
            <a:ext cx="182880" cy="182880"/>
          </a:xfrm>
          <a:prstGeom prst="rect">
            <a:avLst/>
          </a:prstGeom>
        </p:spPr>
      </p:pic>
      <p:sp>
        <p:nvSpPr>
          <p:cNvPr id="57" name="Text 39"/>
          <p:cNvSpPr/>
          <p:nvPr/>
        </p:nvSpPr>
        <p:spPr>
          <a:xfrm>
            <a:off x="6519672" y="3383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D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fonctionnalité de coaching</a:t>
            </a:r>
            <a:endParaRPr lang="en-US" sz="950" dirty="0"/>
          </a:p>
        </p:txBody>
      </p:sp>
      <p:pic>
        <p:nvPicPr>
          <p:cNvPr id="58" name="Image 1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3822192"/>
            <a:ext cx="182880" cy="182880"/>
          </a:xfrm>
          <a:prstGeom prst="rect">
            <a:avLst/>
          </a:prstGeom>
        </p:spPr>
      </p:pic>
      <p:sp>
        <p:nvSpPr>
          <p:cNvPr id="59" name="Text 40"/>
          <p:cNvSpPr/>
          <p:nvPr/>
        </p:nvSpPr>
        <p:spPr>
          <a:xfrm>
            <a:off x="6519672" y="37947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D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créateur de programmes d'entraînement</a:t>
            </a:r>
            <a:endParaRPr lang="en-US" sz="950" dirty="0"/>
          </a:p>
        </p:txBody>
      </p:sp>
      <p:pic>
        <p:nvPicPr>
          <p:cNvPr id="60" name="Image 1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4233672"/>
            <a:ext cx="182880" cy="182880"/>
          </a:xfrm>
          <a:prstGeom prst="rect">
            <a:avLst/>
          </a:prstGeom>
        </p:spPr>
      </p:pic>
      <p:sp>
        <p:nvSpPr>
          <p:cNvPr id="61" name="Text 41"/>
          <p:cNvSpPr/>
          <p:nvPr/>
        </p:nvSpPr>
        <p:spPr>
          <a:xfrm>
            <a:off x="6519672" y="42062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D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passif uniquement — pas d'interaction</a:t>
            </a:r>
            <a:endParaRPr lang="en-US" sz="9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41148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64008"/>
            <a:ext cx="8412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Comparative — Tableau de Fonctionnalités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621792"/>
            <a:ext cx="2185416" cy="256032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621792"/>
            <a:ext cx="2185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— COMPARAISON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960120"/>
            <a:ext cx="2148840" cy="438912"/>
          </a:xfrm>
          <a:prstGeom prst="rect">
            <a:avLst/>
          </a:prstGeom>
          <a:solidFill>
            <a:srgbClr val="0A162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960120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Critères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468880" y="960120"/>
            <a:ext cx="1371600" cy="438912"/>
          </a:xfrm>
          <a:prstGeom prst="rect">
            <a:avLst/>
          </a:prstGeom>
          <a:solidFill>
            <a:srgbClr val="0A162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68880" y="96012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Freeletics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840480" y="960120"/>
            <a:ext cx="1188720" cy="438912"/>
          </a:xfrm>
          <a:prstGeom prst="rect">
            <a:avLst/>
          </a:prstGeom>
          <a:solidFill>
            <a:srgbClr val="0A162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0" y="96012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0" y="960120"/>
            <a:ext cx="1554480" cy="438912"/>
          </a:xfrm>
          <a:prstGeom prst="rect">
            <a:avLst/>
          </a:prstGeom>
          <a:solidFill>
            <a:srgbClr val="0A162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0" y="96012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MyFitnessPal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583680" y="960120"/>
            <a:ext cx="1554480" cy="438912"/>
          </a:xfrm>
          <a:prstGeom prst="rect">
            <a:avLst/>
          </a:prstGeom>
          <a:solidFill>
            <a:srgbClr val="1565C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96012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Solution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0040" y="1399032"/>
            <a:ext cx="2148840" cy="402336"/>
          </a:xfrm>
          <a:prstGeom prst="rect">
            <a:avLst/>
          </a:prstGeom>
          <a:solidFill>
            <a:srgbClr val="ECEFF1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1399032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 humain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468880" y="1399032"/>
            <a:ext cx="13716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468880" y="139903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840480" y="1399032"/>
            <a:ext cx="11887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40480" y="139903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029200" y="1399032"/>
            <a:ext cx="155448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0" y="1399032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583680" y="1399032"/>
            <a:ext cx="1554480" cy="402336"/>
          </a:xfrm>
          <a:prstGeom prst="rect">
            <a:avLst/>
          </a:prstGeom>
          <a:solidFill>
            <a:srgbClr val="E3F2FD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0" y="1399032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0040" y="1801368"/>
            <a:ext cx="2148840" cy="402336"/>
          </a:xfrm>
          <a:prstGeom prst="rect">
            <a:avLst/>
          </a:prstGeom>
          <a:solidFill>
            <a:srgbClr val="ECEFF1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040" y="1801368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Suggestions auto.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468880" y="1801368"/>
            <a:ext cx="1371600" cy="402336"/>
          </a:xfrm>
          <a:prstGeom prst="rect">
            <a:avLst/>
          </a:prstGeom>
          <a:solidFill>
            <a:srgbClr val="F5F9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68880" y="1801368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840480" y="1801368"/>
            <a:ext cx="1188720" cy="402336"/>
          </a:xfrm>
          <a:prstGeom prst="rect">
            <a:avLst/>
          </a:prstGeom>
          <a:solidFill>
            <a:srgbClr val="F5F9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40480" y="180136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029200" y="1801368"/>
            <a:ext cx="1554480" cy="402336"/>
          </a:xfrm>
          <a:prstGeom prst="rect">
            <a:avLst/>
          </a:prstGeom>
          <a:solidFill>
            <a:srgbClr val="F5F9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29200" y="1801368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583680" y="1801368"/>
            <a:ext cx="1554480" cy="402336"/>
          </a:xfrm>
          <a:prstGeom prst="rect">
            <a:avLst/>
          </a:prstGeom>
          <a:solidFill>
            <a:srgbClr val="BBDEFB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0" y="1801368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20040" y="2203704"/>
            <a:ext cx="2148840" cy="402336"/>
          </a:xfrm>
          <a:prstGeom prst="rect">
            <a:avLst/>
          </a:prstGeom>
          <a:solidFill>
            <a:srgbClr val="ECEFF1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0040" y="2203704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Messagerie intégrée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468880" y="2203704"/>
            <a:ext cx="13716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468880" y="2203704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840480" y="2203704"/>
            <a:ext cx="11887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840480" y="2203704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Partiel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5029200" y="2203704"/>
            <a:ext cx="155448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029200" y="2203704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6583680" y="2203704"/>
            <a:ext cx="1554480" cy="402336"/>
          </a:xfrm>
          <a:prstGeom prst="rect">
            <a:avLst/>
          </a:prstGeom>
          <a:solidFill>
            <a:srgbClr val="E3F2FD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83680" y="2203704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320040" y="2606040"/>
            <a:ext cx="2148840" cy="402336"/>
          </a:xfrm>
          <a:prstGeom prst="rect">
            <a:avLst/>
          </a:prstGeom>
          <a:solidFill>
            <a:srgbClr val="ECEFF1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20040" y="2606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vidéo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2468880" y="2606040"/>
            <a:ext cx="1371600" cy="402336"/>
          </a:xfrm>
          <a:prstGeom prst="rect">
            <a:avLst/>
          </a:prstGeom>
          <a:solidFill>
            <a:srgbClr val="F5F9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68880" y="260604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3840480" y="2606040"/>
            <a:ext cx="1188720" cy="402336"/>
          </a:xfrm>
          <a:prstGeom prst="rect">
            <a:avLst/>
          </a:prstGeom>
          <a:solidFill>
            <a:srgbClr val="F5F9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840480" y="2606040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5029200" y="2606040"/>
            <a:ext cx="1554480" cy="402336"/>
          </a:xfrm>
          <a:prstGeom prst="rect">
            <a:avLst/>
          </a:prstGeom>
          <a:solidFill>
            <a:srgbClr val="F5F9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029200" y="2606040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6583680" y="2606040"/>
            <a:ext cx="1554480" cy="402336"/>
          </a:xfrm>
          <a:prstGeom prst="rect">
            <a:avLst/>
          </a:prstGeom>
          <a:solidFill>
            <a:srgbClr val="BBDEFB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83680" y="2606040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320040" y="3008376"/>
            <a:ext cx="2148840" cy="402336"/>
          </a:xfrm>
          <a:prstGeom prst="rect">
            <a:avLst/>
          </a:prstGeom>
          <a:solidFill>
            <a:srgbClr val="ECEFF1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20040" y="3008376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progression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2468880" y="3008376"/>
            <a:ext cx="13716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468880" y="300837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3840480" y="3008376"/>
            <a:ext cx="11887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840480" y="3008376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5029200" y="3008376"/>
            <a:ext cx="155448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029200" y="3008376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6583680" y="3008376"/>
            <a:ext cx="1554480" cy="402336"/>
          </a:xfrm>
          <a:prstGeom prst="rect">
            <a:avLst/>
          </a:prstGeom>
          <a:solidFill>
            <a:srgbClr val="E3F2FD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83680" y="3008376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320040" y="3410712"/>
            <a:ext cx="2148840" cy="402336"/>
          </a:xfrm>
          <a:prstGeom prst="rect">
            <a:avLst/>
          </a:prstGeom>
          <a:solidFill>
            <a:srgbClr val="ECEFF1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20040" y="3410712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Programmes sur mesure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2468880" y="3410712"/>
            <a:ext cx="1371600" cy="402336"/>
          </a:xfrm>
          <a:prstGeom prst="rect">
            <a:avLst/>
          </a:prstGeom>
          <a:solidFill>
            <a:srgbClr val="F5F9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468880" y="341071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Partiel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3840480" y="3410712"/>
            <a:ext cx="1188720" cy="402336"/>
          </a:xfrm>
          <a:prstGeom prst="rect">
            <a:avLst/>
          </a:prstGeom>
          <a:solidFill>
            <a:srgbClr val="F5F9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840480" y="34107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5029200" y="3410712"/>
            <a:ext cx="1554480" cy="402336"/>
          </a:xfrm>
          <a:prstGeom prst="rect">
            <a:avLst/>
          </a:prstGeom>
          <a:solidFill>
            <a:srgbClr val="F5F9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029200" y="3410712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6583680" y="3410712"/>
            <a:ext cx="1554480" cy="402336"/>
          </a:xfrm>
          <a:prstGeom prst="rect">
            <a:avLst/>
          </a:prstGeom>
          <a:solidFill>
            <a:srgbClr val="BBDEFB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583680" y="3410712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320040" y="3813048"/>
            <a:ext cx="2148840" cy="402336"/>
          </a:xfrm>
          <a:prstGeom prst="rect">
            <a:avLst/>
          </a:prstGeom>
          <a:solidFill>
            <a:srgbClr val="ECEFF1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20040" y="3813048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Réservation de séances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2468880" y="3813048"/>
            <a:ext cx="137160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2468880" y="3813048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3840480" y="3813048"/>
            <a:ext cx="118872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3840480" y="381304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029200" y="3813048"/>
            <a:ext cx="155448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5029200" y="3813048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6583680" y="3813048"/>
            <a:ext cx="1554480" cy="402336"/>
          </a:xfrm>
          <a:prstGeom prst="rect">
            <a:avLst/>
          </a:prstGeom>
          <a:solidFill>
            <a:srgbClr val="E3F2FD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583680" y="3813048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320040" y="4215384"/>
            <a:ext cx="2148840" cy="402336"/>
          </a:xfrm>
          <a:prstGeom prst="rect">
            <a:avLst/>
          </a:prstGeom>
          <a:solidFill>
            <a:srgbClr val="ECEFF1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20040" y="4215384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Abonnement coach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2468880" y="4215384"/>
            <a:ext cx="1371600" cy="402336"/>
          </a:xfrm>
          <a:prstGeom prst="rect">
            <a:avLst/>
          </a:prstGeom>
          <a:solidFill>
            <a:srgbClr val="F5F9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2468880" y="4215384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3840480" y="4215384"/>
            <a:ext cx="1188720" cy="402336"/>
          </a:xfrm>
          <a:prstGeom prst="rect">
            <a:avLst/>
          </a:prstGeom>
          <a:solidFill>
            <a:srgbClr val="F5F9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3840480" y="4215384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5029200" y="4215384"/>
            <a:ext cx="1554480" cy="402336"/>
          </a:xfrm>
          <a:prstGeom prst="rect">
            <a:avLst/>
          </a:prstGeom>
          <a:solidFill>
            <a:srgbClr val="F5F9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5029200" y="4215384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Freemium</a:t>
            </a:r>
            <a:endParaRPr lang="en-US" sz="1300" dirty="0"/>
          </a:p>
        </p:txBody>
      </p:sp>
      <p:sp>
        <p:nvSpPr>
          <p:cNvPr id="96" name="Shape 94"/>
          <p:cNvSpPr/>
          <p:nvPr/>
        </p:nvSpPr>
        <p:spPr>
          <a:xfrm>
            <a:off x="6583680" y="4215384"/>
            <a:ext cx="1554480" cy="402336"/>
          </a:xfrm>
          <a:prstGeom prst="rect">
            <a:avLst/>
          </a:prstGeom>
          <a:solidFill>
            <a:srgbClr val="BBDEFB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6583680" y="4215384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1122"/>
          </a:solidFill>
          <a:ln w="12700">
            <a:solidFill>
              <a:srgbClr val="0611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2920"/>
            <a:ext cx="9144000" cy="41148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64008"/>
            <a:ext cx="8412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Valeur Ajoutée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65760" y="621792"/>
            <a:ext cx="2446020" cy="256032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621792"/>
            <a:ext cx="2446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 — VALEUR AJOUTÉE</a:t>
            </a:r>
            <a:endParaRPr lang="en-US" sz="9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566928"/>
            <a:ext cx="914400" cy="9144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320040" y="1691640"/>
            <a:ext cx="4206240" cy="1188720"/>
          </a:xfrm>
          <a:prstGeom prst="rect">
            <a:avLst/>
          </a:prstGeom>
          <a:solidFill>
            <a:srgbClr val="0D1F3C"/>
          </a:solidFill>
          <a:ln w="6350">
            <a:solidFill>
              <a:srgbClr val="1E3A5F"/>
            </a:solidFill>
            <a:prstDash val="solid"/>
          </a:ln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0040" y="1691640"/>
            <a:ext cx="59436" cy="1188720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29768" y="1920240"/>
            <a:ext cx="594360" cy="594360"/>
          </a:xfrm>
          <a:prstGeom prst="rect">
            <a:avLst/>
          </a:prstGeom>
          <a:solidFill>
            <a:srgbClr val="FFB300">
              <a:alpha val="80000"/>
            </a:srgbClr>
          </a:solidFill>
          <a:ln w="12700">
            <a:solidFill>
              <a:srgbClr val="FFB300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1947672"/>
            <a:ext cx="502920" cy="5029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143000" y="17830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Tout-en-Un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1143000" y="216712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plateforme regroupe : programmes, suivi, messagerie et rendez-vous.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4709160" y="1691640"/>
            <a:ext cx="4206240" cy="1188720"/>
          </a:xfrm>
          <a:prstGeom prst="rect">
            <a:avLst/>
          </a:prstGeom>
          <a:solidFill>
            <a:srgbClr val="0D1F3C"/>
          </a:solidFill>
          <a:ln w="6350">
            <a:solidFill>
              <a:srgbClr val="1E3A5F"/>
            </a:solidFill>
            <a:prstDash val="solid"/>
          </a:ln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709160" y="1691640"/>
            <a:ext cx="59436" cy="118872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818888" y="1920240"/>
            <a:ext cx="594360" cy="594360"/>
          </a:xfrm>
          <a:prstGeom prst="rect">
            <a:avLst/>
          </a:prstGeom>
          <a:solidFill>
            <a:srgbClr val="00ACC1">
              <a:alpha val="80000"/>
            </a:srgbClr>
          </a:solidFill>
          <a:ln w="12700">
            <a:solidFill>
              <a:srgbClr val="00ACC1"/>
            </a:solidFill>
            <a:prstDash val="solid"/>
          </a:ln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608" y="1947672"/>
            <a:ext cx="502920" cy="5029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532120" y="17830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Personnalisation Réelle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5532120" y="216712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coach crée des programmes adaptés à chaque client selon ses objectifs et son niveau.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320040" y="3063240"/>
            <a:ext cx="4206240" cy="1188720"/>
          </a:xfrm>
          <a:prstGeom prst="rect">
            <a:avLst/>
          </a:prstGeom>
          <a:solidFill>
            <a:srgbClr val="0D1F3C"/>
          </a:solidFill>
          <a:ln w="6350">
            <a:solidFill>
              <a:srgbClr val="1E3A5F"/>
            </a:solidFill>
            <a:prstDash val="solid"/>
          </a:ln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320040" y="3063240"/>
            <a:ext cx="59436" cy="118872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29768" y="3291840"/>
            <a:ext cx="594360" cy="594360"/>
          </a:xfrm>
          <a:prstGeom prst="rect">
            <a:avLst/>
          </a:prstGeom>
          <a:solidFill>
            <a:srgbClr val="1E88E5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" y="3319272"/>
            <a:ext cx="502920" cy="50292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143000" y="31546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8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Vidéo Planifiées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1143000" y="353872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séances vidéo via Google Meet sont intégrées au système de rendez-vous de la plateforme.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4709160" y="3063240"/>
            <a:ext cx="4206240" cy="1188720"/>
          </a:xfrm>
          <a:prstGeom prst="rect">
            <a:avLst/>
          </a:prstGeom>
          <a:solidFill>
            <a:srgbClr val="0D1F3C"/>
          </a:solidFill>
          <a:ln w="6350">
            <a:solidFill>
              <a:srgbClr val="1E3A5F"/>
            </a:solidFill>
            <a:prstDash val="solid"/>
          </a:ln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709160" y="3063240"/>
            <a:ext cx="59436" cy="1188720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4818888" y="3291840"/>
            <a:ext cx="594360" cy="594360"/>
          </a:xfrm>
          <a:prstGeom prst="rect">
            <a:avLst/>
          </a:prstGeom>
          <a:solidFill>
            <a:srgbClr val="FFB300">
              <a:alpha val="80000"/>
            </a:srgbClr>
          </a:solidFill>
          <a:ln w="12700">
            <a:solidFill>
              <a:srgbClr val="FFB300"/>
            </a:solidFill>
            <a:prstDash val="solid"/>
          </a:ln>
        </p:spPr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64608" y="3319272"/>
            <a:ext cx="502920" cy="502920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5532120" y="31546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&amp; Responsabilisation</a:t>
            </a:r>
            <a:endParaRPr lang="en-US" sz="1200" dirty="0"/>
          </a:p>
        </p:txBody>
      </p:sp>
      <p:sp>
        <p:nvSpPr>
          <p:cNvPr id="33" name="Text 26"/>
          <p:cNvSpPr/>
          <p:nvPr/>
        </p:nvSpPr>
        <p:spPr>
          <a:xfrm>
            <a:off x="5532120" y="353872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tableau de bord et la messagerie créent une boucle de suivi continue entre coach et client.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4114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64008"/>
            <a:ext cx="8412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Acteurs du Système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621792"/>
            <a:ext cx="2967228" cy="256032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621792"/>
            <a:ext cx="29672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3 — BESOINS FONCTIONNELS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960120"/>
            <a:ext cx="402336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60120"/>
            <a:ext cx="4023360" cy="10515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51560"/>
            <a:ext cx="822960" cy="8229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463040" y="102412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463040" y="15270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Sportif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02920" y="210312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 personne souhaitant bénéficier d'un suivi sportif personnalisé à distance, avec un coach professionnel.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02920" y="2907792"/>
            <a:ext cx="3749040" cy="274320"/>
          </a:xfrm>
          <a:prstGeom prst="rect">
            <a:avLst/>
          </a:prstGeom>
          <a:solidFill>
            <a:srgbClr val="1565C0">
              <a:alpha val="15000"/>
            </a:srgbClr>
          </a:solidFill>
          <a:ln w="12700">
            <a:solidFill>
              <a:srgbClr val="1565C0">
                <a:alpha val="1500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90779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5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FONCTIONS PRINCIPALES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502920" y="3255264"/>
            <a:ext cx="3749040" cy="246888"/>
          </a:xfrm>
          <a:prstGeom prst="rect">
            <a:avLst/>
          </a:prstGeom>
          <a:solidFill>
            <a:srgbClr val="F8FB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02920" y="3255264"/>
            <a:ext cx="36576" cy="24688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1792" y="3255264"/>
            <a:ext cx="3566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Rechercher un coach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02920" y="3529584"/>
            <a:ext cx="374904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02920" y="3529584"/>
            <a:ext cx="36576" cy="24688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21792" y="3529584"/>
            <a:ext cx="3566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S'abonner à un programme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02920" y="3803904"/>
            <a:ext cx="3749040" cy="246888"/>
          </a:xfrm>
          <a:prstGeom prst="rect">
            <a:avLst/>
          </a:prstGeom>
          <a:solidFill>
            <a:srgbClr val="F8FB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02920" y="3803904"/>
            <a:ext cx="36576" cy="24688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21792" y="3803904"/>
            <a:ext cx="3566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Suivre sa progression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02920" y="4078224"/>
            <a:ext cx="374904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02920" y="4078224"/>
            <a:ext cx="36576" cy="24688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1792" y="4078224"/>
            <a:ext cx="3566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Réserver une séance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502920" y="4352544"/>
            <a:ext cx="3749040" cy="246888"/>
          </a:xfrm>
          <a:prstGeom prst="rect">
            <a:avLst/>
          </a:prstGeom>
          <a:solidFill>
            <a:srgbClr val="F8FB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02920" y="4352544"/>
            <a:ext cx="36576" cy="24688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21792" y="4352544"/>
            <a:ext cx="3566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Communiquer avec le coach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4754880" y="960120"/>
            <a:ext cx="402336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4754880" y="960120"/>
            <a:ext cx="4023360" cy="105156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pic>
        <p:nvPicPr>
          <p:cNvPr id="3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051560"/>
            <a:ext cx="822960" cy="822960"/>
          </a:xfrm>
          <a:prstGeom prst="rect">
            <a:avLst/>
          </a:prstGeom>
        </p:spPr>
      </p:pic>
      <p:sp>
        <p:nvSpPr>
          <p:cNvPr id="34" name="Text 30"/>
          <p:cNvSpPr/>
          <p:nvPr/>
        </p:nvSpPr>
        <p:spPr>
          <a:xfrm>
            <a:off x="5852160" y="102412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</a:t>
            </a:r>
            <a:endParaRPr lang="en-US" sz="2200" dirty="0"/>
          </a:p>
        </p:txBody>
      </p:sp>
      <p:sp>
        <p:nvSpPr>
          <p:cNvPr id="35" name="Text 31"/>
          <p:cNvSpPr/>
          <p:nvPr/>
        </p:nvSpPr>
        <p:spPr>
          <a:xfrm>
            <a:off x="5852160" y="15270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L'Expert</a:t>
            </a:r>
            <a:endParaRPr lang="en-US" sz="1200" dirty="0"/>
          </a:p>
        </p:txBody>
      </p:sp>
      <p:sp>
        <p:nvSpPr>
          <p:cNvPr id="36" name="Text 32"/>
          <p:cNvSpPr/>
          <p:nvPr/>
        </p:nvSpPr>
        <p:spPr>
          <a:xfrm>
            <a:off x="4892040" y="210312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professionnel du sport qui crée et gère des programmes d'entraînement pour ses clients depuis la plateforme.</a:t>
            </a:r>
            <a:endParaRPr lang="en-US" sz="1050" dirty="0"/>
          </a:p>
        </p:txBody>
      </p:sp>
      <p:sp>
        <p:nvSpPr>
          <p:cNvPr id="37" name="Shape 33"/>
          <p:cNvSpPr/>
          <p:nvPr/>
        </p:nvSpPr>
        <p:spPr>
          <a:xfrm>
            <a:off x="4892040" y="2907792"/>
            <a:ext cx="3749040" cy="274320"/>
          </a:xfrm>
          <a:prstGeom prst="rect">
            <a:avLst/>
          </a:prstGeom>
          <a:solidFill>
            <a:srgbClr val="00ACC1">
              <a:alpha val="15000"/>
            </a:srgbClr>
          </a:solidFill>
          <a:ln w="12700">
            <a:solidFill>
              <a:srgbClr val="00ACC1">
                <a:alpha val="15000"/>
              </a:srgbClr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4892040" y="290779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50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FONCTIONS PRINCIPALES</a:t>
            </a:r>
            <a:endParaRPr lang="en-US" sz="850" dirty="0"/>
          </a:p>
        </p:txBody>
      </p:sp>
      <p:sp>
        <p:nvSpPr>
          <p:cNvPr id="39" name="Shape 35"/>
          <p:cNvSpPr/>
          <p:nvPr/>
        </p:nvSpPr>
        <p:spPr>
          <a:xfrm>
            <a:off x="4892040" y="3255264"/>
            <a:ext cx="3749040" cy="246888"/>
          </a:xfrm>
          <a:prstGeom prst="rect">
            <a:avLst/>
          </a:prstGeom>
          <a:solidFill>
            <a:srgbClr val="F8FB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4892040" y="3255264"/>
            <a:ext cx="36576" cy="246888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010912" y="3255264"/>
            <a:ext cx="3566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des programmes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4892040" y="3529584"/>
            <a:ext cx="374904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4892040" y="3529584"/>
            <a:ext cx="36576" cy="246888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010912" y="3529584"/>
            <a:ext cx="3566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Suivre les clients</a:t>
            </a:r>
            <a:endParaRPr lang="en-US" sz="1000" dirty="0"/>
          </a:p>
        </p:txBody>
      </p:sp>
      <p:sp>
        <p:nvSpPr>
          <p:cNvPr id="45" name="Shape 41"/>
          <p:cNvSpPr/>
          <p:nvPr/>
        </p:nvSpPr>
        <p:spPr>
          <a:xfrm>
            <a:off x="4892040" y="3803904"/>
            <a:ext cx="3749040" cy="246888"/>
          </a:xfrm>
          <a:prstGeom prst="rect">
            <a:avLst/>
          </a:prstGeom>
          <a:solidFill>
            <a:srgbClr val="F8FB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4892040" y="3803904"/>
            <a:ext cx="36576" cy="246888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010912" y="3803904"/>
            <a:ext cx="3566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Gérer les rendez-vous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4892040" y="4078224"/>
            <a:ext cx="374904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4892040" y="4078224"/>
            <a:ext cx="36576" cy="246888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010912" y="4078224"/>
            <a:ext cx="3566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Envoyer des retours</a:t>
            </a:r>
            <a:endParaRPr lang="en-US" sz="1000" dirty="0"/>
          </a:p>
        </p:txBody>
      </p:sp>
      <p:sp>
        <p:nvSpPr>
          <p:cNvPr id="51" name="Shape 47"/>
          <p:cNvSpPr/>
          <p:nvPr/>
        </p:nvSpPr>
        <p:spPr>
          <a:xfrm>
            <a:off x="4892040" y="4352544"/>
            <a:ext cx="3749040" cy="246888"/>
          </a:xfrm>
          <a:prstGeom prst="rect">
            <a:avLst/>
          </a:prstGeom>
          <a:solidFill>
            <a:srgbClr val="F8FB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4892040" y="4352544"/>
            <a:ext cx="36576" cy="246888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5010912" y="4352544"/>
            <a:ext cx="3566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Gérer les abonnements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4114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64008"/>
            <a:ext cx="8412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 Fonctionnels — Client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621792"/>
            <a:ext cx="3314700" cy="256032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621792"/>
            <a:ext cx="33147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3 — CAS D'UTILISATION CLIENT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960120"/>
            <a:ext cx="640080" cy="64008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1005840"/>
            <a:ext cx="512064" cy="51206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51560" y="10058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ACTEUR CLIENT — CAS D'UTILISATION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20040" y="1737360"/>
            <a:ext cx="4206240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0040" y="1737360"/>
            <a:ext cx="4206240" cy="274320"/>
          </a:xfrm>
          <a:prstGeom prst="rect">
            <a:avLst/>
          </a:prstGeom>
          <a:solidFill>
            <a:srgbClr val="1565C0">
              <a:alpha val="12000"/>
            </a:srgbClr>
          </a:solidFill>
          <a:ln w="12700">
            <a:solidFill>
              <a:srgbClr val="1565C0">
                <a:alpha val="12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" y="1737360"/>
            <a:ext cx="59436" cy="98755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57200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03911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8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S'inscrire, se connecter et gérer son profil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457200" y="236829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8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Définir ses objectifs et son sport pratiqué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709160" y="1737360"/>
            <a:ext cx="4206240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709160" y="1737360"/>
            <a:ext cx="4206240" cy="274320"/>
          </a:xfrm>
          <a:prstGeom prst="rect">
            <a:avLst/>
          </a:prstGeom>
          <a:solidFill>
            <a:srgbClr val="1565C0">
              <a:alpha val="12000"/>
            </a:srgbClr>
          </a:solidFill>
          <a:ln w="12700">
            <a:solidFill>
              <a:srgbClr val="1565C0">
                <a:alpha val="1200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709160" y="1737360"/>
            <a:ext cx="59436" cy="98755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846320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846320" y="203911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8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Parcourir et filtrer les coachs par spécialité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4846320" y="236829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8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Consulter le profil et les programmes d'un coach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320040" y="2816352"/>
            <a:ext cx="4206240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320040" y="2816352"/>
            <a:ext cx="4206240" cy="274320"/>
          </a:xfrm>
          <a:prstGeom prst="rect">
            <a:avLst/>
          </a:prstGeom>
          <a:solidFill>
            <a:srgbClr val="1565C0">
              <a:alpha val="12000"/>
            </a:srgbClr>
          </a:solidFill>
          <a:ln w="12700">
            <a:solidFill>
              <a:srgbClr val="1565C0">
                <a:alpha val="1200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0040" y="2816352"/>
            <a:ext cx="59436" cy="98755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57200" y="281635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ABONNEMENT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457200" y="311810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8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S'abonner à un programme de coaching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457200" y="344728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8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Accéder au programme et au planning assigné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709160" y="2816352"/>
            <a:ext cx="4206240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4709160" y="2816352"/>
            <a:ext cx="4206240" cy="274320"/>
          </a:xfrm>
          <a:prstGeom prst="rect">
            <a:avLst/>
          </a:prstGeom>
          <a:solidFill>
            <a:srgbClr val="1565C0">
              <a:alpha val="12000"/>
            </a:srgbClr>
          </a:solidFill>
          <a:ln w="12700">
            <a:solidFill>
              <a:srgbClr val="1565C0">
                <a:alpha val="12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709160" y="2816352"/>
            <a:ext cx="59436" cy="98755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846320" y="281635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ENTRAÎNEMENT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4846320" y="311810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8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Saisir les séances réalisées (séries, reps, durée)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4846320" y="344728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8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Consulter les exercices avec consignes et liens vidéo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320040" y="3895344"/>
            <a:ext cx="4206240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20040" y="3895344"/>
            <a:ext cx="4206240" cy="274320"/>
          </a:xfrm>
          <a:prstGeom prst="rect">
            <a:avLst/>
          </a:prstGeom>
          <a:solidFill>
            <a:srgbClr val="1565C0">
              <a:alpha val="12000"/>
            </a:srgbClr>
          </a:solidFill>
          <a:ln w="12700">
            <a:solidFill>
              <a:srgbClr val="1565C0">
                <a:alpha val="12000"/>
              </a:srgbClr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320040" y="3895344"/>
            <a:ext cx="59436" cy="98755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457200" y="389534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PROGRESSION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457200" y="419709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8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Visualiser ses statistiques et son évolution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457200" y="45262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8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Recevoir les retours et commentaires du coach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4709160" y="3895344"/>
            <a:ext cx="4206240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4709160" y="3895344"/>
            <a:ext cx="4206240" cy="274320"/>
          </a:xfrm>
          <a:prstGeom prst="rect">
            <a:avLst/>
          </a:prstGeom>
          <a:solidFill>
            <a:srgbClr val="1565C0">
              <a:alpha val="12000"/>
            </a:srgbClr>
          </a:solidFill>
          <a:ln w="12700">
            <a:solidFill>
              <a:srgbClr val="1565C0">
                <a:alpha val="12000"/>
              </a:srgbClr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709160" y="3895344"/>
            <a:ext cx="59436" cy="98755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4846320" y="389534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4846320" y="419709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8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Envoyer des messages à son coach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4846320" y="45262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8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Réserver, modifier ou annuler une séance vidéo</a:t>
            </a:r>
            <a:endParaRPr lang="en-US" sz="9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41148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64008"/>
            <a:ext cx="8412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 Fonctionnels — Coach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621792"/>
            <a:ext cx="3227832" cy="256032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621792"/>
            <a:ext cx="3227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3 — CAS D'UTILISATION COACH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960120"/>
            <a:ext cx="640080" cy="64008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1005840"/>
            <a:ext cx="512064" cy="51206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51560" y="10058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ACTEUR COACH — CAS D'UTILISATION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20040" y="1737360"/>
            <a:ext cx="4206240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0040" y="1737360"/>
            <a:ext cx="4206240" cy="274320"/>
          </a:xfrm>
          <a:prstGeom prst="rect">
            <a:avLst/>
          </a:prstGeom>
          <a:solidFill>
            <a:srgbClr val="00ACC1">
              <a:alpha val="12000"/>
            </a:srgbClr>
          </a:solidFill>
          <a:ln w="12700">
            <a:solidFill>
              <a:srgbClr val="00ACC1">
                <a:alpha val="12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" y="1737360"/>
            <a:ext cx="59436" cy="987552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57200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03911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un profil avec bio et certifications sportives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457200" y="236829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Définir sa spécialité, ses tarifs et disponibilités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709160" y="1737360"/>
            <a:ext cx="4206240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709160" y="1737360"/>
            <a:ext cx="4206240" cy="274320"/>
          </a:xfrm>
          <a:prstGeom prst="rect">
            <a:avLst/>
          </a:prstGeom>
          <a:solidFill>
            <a:srgbClr val="00ACC1">
              <a:alpha val="12000"/>
            </a:srgbClr>
          </a:solidFill>
          <a:ln w="12700">
            <a:solidFill>
              <a:srgbClr val="00ACC1">
                <a:alpha val="1200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709160" y="1737360"/>
            <a:ext cx="59436" cy="987552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846320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PROGRAMMES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846320" y="203911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des programmes multi-semaines depuis la bibliothèque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4846320" y="236829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Définir les exercices, séries, repos et objectifs par phase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320040" y="2816352"/>
            <a:ext cx="4206240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320040" y="2816352"/>
            <a:ext cx="4206240" cy="274320"/>
          </a:xfrm>
          <a:prstGeom prst="rect">
            <a:avLst/>
          </a:prstGeom>
          <a:solidFill>
            <a:srgbClr val="00ACC1">
              <a:alpha val="12000"/>
            </a:srgbClr>
          </a:solidFill>
          <a:ln w="12700">
            <a:solidFill>
              <a:srgbClr val="00ACC1">
                <a:alpha val="1200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0040" y="2816352"/>
            <a:ext cx="59436" cy="987552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57200" y="281635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CLIENTS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457200" y="311810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Accepter ou refuser les demandes d'abonnement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457200" y="344728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Assigner des programmes et gérer la liste de clients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709160" y="2816352"/>
            <a:ext cx="4206240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4709160" y="2816352"/>
            <a:ext cx="4206240" cy="274320"/>
          </a:xfrm>
          <a:prstGeom prst="rect">
            <a:avLst/>
          </a:prstGeom>
          <a:solidFill>
            <a:srgbClr val="00ACC1">
              <a:alpha val="12000"/>
            </a:srgbClr>
          </a:solidFill>
          <a:ln w="12700">
            <a:solidFill>
              <a:srgbClr val="00ACC1">
                <a:alpha val="12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709160" y="2816352"/>
            <a:ext cx="59436" cy="987552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846320" y="281635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4846320" y="311810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 les séances complétées par chaque client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4846320" y="344728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Consulter les journaux et laisser des commentaires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320040" y="3895344"/>
            <a:ext cx="4206240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20040" y="3895344"/>
            <a:ext cx="4206240" cy="274320"/>
          </a:xfrm>
          <a:prstGeom prst="rect">
            <a:avLst/>
          </a:prstGeom>
          <a:solidFill>
            <a:srgbClr val="00ACC1">
              <a:alpha val="12000"/>
            </a:srgbClr>
          </a:solidFill>
          <a:ln w="12700">
            <a:solidFill>
              <a:srgbClr val="00ACC1">
                <a:alpha val="12000"/>
              </a:srgbClr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320040" y="3895344"/>
            <a:ext cx="59436" cy="987552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457200" y="389534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RENDEZ-VOUS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457200" y="419709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Définir ses créneaux de disponibilité hebdomadaires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457200" y="45262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Confirmer, annuler ou reporter les réservations clients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4709160" y="3895344"/>
            <a:ext cx="4206240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4709160" y="3895344"/>
            <a:ext cx="4206240" cy="274320"/>
          </a:xfrm>
          <a:prstGeom prst="rect">
            <a:avLst/>
          </a:prstGeom>
          <a:solidFill>
            <a:srgbClr val="00ACC1">
              <a:alpha val="12000"/>
            </a:srgbClr>
          </a:solidFill>
          <a:ln w="12700">
            <a:solidFill>
              <a:srgbClr val="00ACC1">
                <a:alpha val="12000"/>
              </a:srgbClr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709160" y="3895344"/>
            <a:ext cx="59436" cy="987552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4846320" y="389534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4846320" y="419709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Répondre aux messages de ses clients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4846320" y="45262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Partager le lien Google Meet pour les séances vidéo</a:t>
            </a:r>
            <a:endParaRPr lang="en-US" sz="9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4114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64008"/>
            <a:ext cx="8412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Détail des Modules Clés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621792"/>
            <a:ext cx="1837944" cy="256032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621792"/>
            <a:ext cx="183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3 — MODULES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960120"/>
            <a:ext cx="420624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960120"/>
            <a:ext cx="4206240" cy="4572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014984"/>
            <a:ext cx="347472" cy="34747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50392" y="9601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Programmes d'Entraînement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57200" y="1508760"/>
            <a:ext cx="201168" cy="201168"/>
          </a:xfrm>
          <a:prstGeom prst="lin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15087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731520" y="1490472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coach définit le nom, la durée et l'objectif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57200" y="1847088"/>
            <a:ext cx="201168" cy="201168"/>
          </a:xfrm>
          <a:prstGeom prst="lin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7200" y="184708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731520" y="182880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Ajoute les exercices (séries, reps, lien vidéo YouTube)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57200" y="2185416"/>
            <a:ext cx="201168" cy="201168"/>
          </a:xfrm>
          <a:prstGeom prst="lin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7200" y="218541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731520" y="216712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Publie le programme aux clients abonnés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57200" y="2523744"/>
            <a:ext cx="201168" cy="201168"/>
          </a:xfrm>
          <a:prstGeom prst="lin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57200" y="252374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731520" y="2505456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client saisit ses séances réalisées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4709160" y="960120"/>
            <a:ext cx="420624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709160" y="960120"/>
            <a:ext cx="4206240" cy="45720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1014984"/>
            <a:ext cx="347472" cy="347472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5239512" y="9601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Messagerie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4846320" y="1508760"/>
            <a:ext cx="201168" cy="201168"/>
          </a:xfrm>
          <a:prstGeom prst="lin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4846320" y="15087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30" name="Text 26"/>
          <p:cNvSpPr/>
          <p:nvPr/>
        </p:nvSpPr>
        <p:spPr>
          <a:xfrm>
            <a:off x="5120640" y="1490472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client envoie un message à son coach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4846320" y="1847088"/>
            <a:ext cx="201168" cy="201168"/>
          </a:xfrm>
          <a:prstGeom prst="lin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4846320" y="184708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33" name="Text 29"/>
          <p:cNvSpPr/>
          <p:nvPr/>
        </p:nvSpPr>
        <p:spPr>
          <a:xfrm>
            <a:off x="5120640" y="182880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coach répond avec texte ou fichier joint</a:t>
            </a:r>
            <a:endParaRPr lang="en-US" sz="950" dirty="0"/>
          </a:p>
        </p:txBody>
      </p:sp>
      <p:sp>
        <p:nvSpPr>
          <p:cNvPr id="34" name="Shape 30"/>
          <p:cNvSpPr/>
          <p:nvPr/>
        </p:nvSpPr>
        <p:spPr>
          <a:xfrm>
            <a:off x="4846320" y="2185416"/>
            <a:ext cx="201168" cy="201168"/>
          </a:xfrm>
          <a:prstGeom prst="lin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4846320" y="218541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36" name="Text 32"/>
          <p:cNvSpPr/>
          <p:nvPr/>
        </p:nvSpPr>
        <p:spPr>
          <a:xfrm>
            <a:off x="5120640" y="216712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notification est déclenchée à la réception</a:t>
            </a:r>
            <a:endParaRPr lang="en-US" sz="950" dirty="0"/>
          </a:p>
        </p:txBody>
      </p:sp>
      <p:sp>
        <p:nvSpPr>
          <p:cNvPr id="37" name="Shape 33"/>
          <p:cNvSpPr/>
          <p:nvPr/>
        </p:nvSpPr>
        <p:spPr>
          <a:xfrm>
            <a:off x="4846320" y="2523744"/>
            <a:ext cx="201168" cy="201168"/>
          </a:xfrm>
          <a:prstGeom prst="lin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4846320" y="252374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39" name="Text 35"/>
          <p:cNvSpPr/>
          <p:nvPr/>
        </p:nvSpPr>
        <p:spPr>
          <a:xfrm>
            <a:off x="5120640" y="2505456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L'historique des messages est conservé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320040" y="3017520"/>
            <a:ext cx="420624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1" name="Shape 37"/>
          <p:cNvSpPr/>
          <p:nvPr/>
        </p:nvSpPr>
        <p:spPr>
          <a:xfrm>
            <a:off x="320040" y="3017520"/>
            <a:ext cx="4206240" cy="45720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pic>
        <p:nvPicPr>
          <p:cNvPr id="4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3072384"/>
            <a:ext cx="347472" cy="347472"/>
          </a:xfrm>
          <a:prstGeom prst="rect">
            <a:avLst/>
          </a:prstGeom>
        </p:spPr>
      </p:pic>
      <p:sp>
        <p:nvSpPr>
          <p:cNvPr id="43" name="Text 38"/>
          <p:cNvSpPr/>
          <p:nvPr/>
        </p:nvSpPr>
        <p:spPr>
          <a:xfrm>
            <a:off x="850392" y="30175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Progression</a:t>
            </a:r>
            <a:endParaRPr lang="en-US" sz="1300" dirty="0"/>
          </a:p>
        </p:txBody>
      </p:sp>
      <p:sp>
        <p:nvSpPr>
          <p:cNvPr id="44" name="Shape 39"/>
          <p:cNvSpPr/>
          <p:nvPr/>
        </p:nvSpPr>
        <p:spPr>
          <a:xfrm>
            <a:off x="457200" y="3566160"/>
            <a:ext cx="201168" cy="201168"/>
          </a:xfrm>
          <a:prstGeom prst="line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457200" y="35661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46" name="Text 41"/>
          <p:cNvSpPr/>
          <p:nvPr/>
        </p:nvSpPr>
        <p:spPr>
          <a:xfrm>
            <a:off x="731520" y="3547872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client saisit les données de sa séance</a:t>
            </a:r>
            <a:endParaRPr lang="en-US" sz="950" dirty="0"/>
          </a:p>
        </p:txBody>
      </p:sp>
      <p:sp>
        <p:nvSpPr>
          <p:cNvPr id="47" name="Shape 42"/>
          <p:cNvSpPr/>
          <p:nvPr/>
        </p:nvSpPr>
        <p:spPr>
          <a:xfrm>
            <a:off x="457200" y="3904488"/>
            <a:ext cx="201168" cy="201168"/>
          </a:xfrm>
          <a:prstGeom prst="line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48" name="Text 43"/>
          <p:cNvSpPr/>
          <p:nvPr/>
        </p:nvSpPr>
        <p:spPr>
          <a:xfrm>
            <a:off x="457200" y="390448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49" name="Text 44"/>
          <p:cNvSpPr/>
          <p:nvPr/>
        </p:nvSpPr>
        <p:spPr>
          <a:xfrm>
            <a:off x="731520" y="388620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plateforme génère des graphiques de progression</a:t>
            </a:r>
            <a:endParaRPr lang="en-US" sz="950" dirty="0"/>
          </a:p>
        </p:txBody>
      </p:sp>
      <p:sp>
        <p:nvSpPr>
          <p:cNvPr id="50" name="Shape 45"/>
          <p:cNvSpPr/>
          <p:nvPr/>
        </p:nvSpPr>
        <p:spPr>
          <a:xfrm>
            <a:off x="457200" y="4242816"/>
            <a:ext cx="201168" cy="201168"/>
          </a:xfrm>
          <a:prstGeom prst="line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457200" y="424281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52" name="Text 47"/>
          <p:cNvSpPr/>
          <p:nvPr/>
        </p:nvSpPr>
        <p:spPr>
          <a:xfrm>
            <a:off x="731520" y="422452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coach consulte le tableau de bord du client</a:t>
            </a:r>
            <a:endParaRPr lang="en-US" sz="950" dirty="0"/>
          </a:p>
        </p:txBody>
      </p:sp>
      <p:sp>
        <p:nvSpPr>
          <p:cNvPr id="53" name="Shape 48"/>
          <p:cNvSpPr/>
          <p:nvPr/>
        </p:nvSpPr>
        <p:spPr>
          <a:xfrm>
            <a:off x="457200" y="4581144"/>
            <a:ext cx="201168" cy="201168"/>
          </a:xfrm>
          <a:prstGeom prst="line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54" name="Text 49"/>
          <p:cNvSpPr/>
          <p:nvPr/>
        </p:nvSpPr>
        <p:spPr>
          <a:xfrm>
            <a:off x="457200" y="458114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55" name="Text 50"/>
          <p:cNvSpPr/>
          <p:nvPr/>
        </p:nvSpPr>
        <p:spPr>
          <a:xfrm>
            <a:off x="731520" y="4562856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coach laisse un retour écrit sur la séance</a:t>
            </a:r>
            <a:endParaRPr lang="en-US" sz="950" dirty="0"/>
          </a:p>
        </p:txBody>
      </p:sp>
      <p:sp>
        <p:nvSpPr>
          <p:cNvPr id="56" name="Shape 51"/>
          <p:cNvSpPr/>
          <p:nvPr/>
        </p:nvSpPr>
        <p:spPr>
          <a:xfrm>
            <a:off x="4709160" y="3017520"/>
            <a:ext cx="420624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7" name="Shape 52"/>
          <p:cNvSpPr/>
          <p:nvPr/>
        </p:nvSpPr>
        <p:spPr>
          <a:xfrm>
            <a:off x="4709160" y="3017520"/>
            <a:ext cx="4206240" cy="4572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5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0600" y="3072384"/>
            <a:ext cx="347472" cy="347472"/>
          </a:xfrm>
          <a:prstGeom prst="rect">
            <a:avLst/>
          </a:prstGeom>
        </p:spPr>
      </p:pic>
      <p:sp>
        <p:nvSpPr>
          <p:cNvPr id="59" name="Text 53"/>
          <p:cNvSpPr/>
          <p:nvPr/>
        </p:nvSpPr>
        <p:spPr>
          <a:xfrm>
            <a:off x="5239512" y="30175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Réservation de Séances</a:t>
            </a:r>
            <a:endParaRPr lang="en-US" sz="1300" dirty="0"/>
          </a:p>
        </p:txBody>
      </p:sp>
      <p:sp>
        <p:nvSpPr>
          <p:cNvPr id="60" name="Shape 54"/>
          <p:cNvSpPr/>
          <p:nvPr/>
        </p:nvSpPr>
        <p:spPr>
          <a:xfrm>
            <a:off x="4846320" y="3566160"/>
            <a:ext cx="201168" cy="201168"/>
          </a:xfrm>
          <a:prstGeom prst="lin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1" name="Text 55"/>
          <p:cNvSpPr/>
          <p:nvPr/>
        </p:nvSpPr>
        <p:spPr>
          <a:xfrm>
            <a:off x="4846320" y="35661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62" name="Text 56"/>
          <p:cNvSpPr/>
          <p:nvPr/>
        </p:nvSpPr>
        <p:spPr>
          <a:xfrm>
            <a:off x="5120640" y="3547872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coach configure ses créneaux disponibles</a:t>
            </a:r>
            <a:endParaRPr lang="en-US" sz="950" dirty="0"/>
          </a:p>
        </p:txBody>
      </p:sp>
      <p:sp>
        <p:nvSpPr>
          <p:cNvPr id="63" name="Shape 57"/>
          <p:cNvSpPr/>
          <p:nvPr/>
        </p:nvSpPr>
        <p:spPr>
          <a:xfrm>
            <a:off x="4846320" y="3904488"/>
            <a:ext cx="201168" cy="201168"/>
          </a:xfrm>
          <a:prstGeom prst="lin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4" name="Text 58"/>
          <p:cNvSpPr/>
          <p:nvPr/>
        </p:nvSpPr>
        <p:spPr>
          <a:xfrm>
            <a:off x="4846320" y="390448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65" name="Text 59"/>
          <p:cNvSpPr/>
          <p:nvPr/>
        </p:nvSpPr>
        <p:spPr>
          <a:xfrm>
            <a:off x="5120640" y="388620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client choisit un créneau et confirme</a:t>
            </a:r>
            <a:endParaRPr lang="en-US" sz="950" dirty="0"/>
          </a:p>
        </p:txBody>
      </p:sp>
      <p:sp>
        <p:nvSpPr>
          <p:cNvPr id="66" name="Shape 60"/>
          <p:cNvSpPr/>
          <p:nvPr/>
        </p:nvSpPr>
        <p:spPr>
          <a:xfrm>
            <a:off x="4846320" y="4242816"/>
            <a:ext cx="201168" cy="201168"/>
          </a:xfrm>
          <a:prstGeom prst="lin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67" name="Text 61"/>
          <p:cNvSpPr/>
          <p:nvPr/>
        </p:nvSpPr>
        <p:spPr>
          <a:xfrm>
            <a:off x="4846320" y="424281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68" name="Text 62"/>
          <p:cNvSpPr/>
          <p:nvPr/>
        </p:nvSpPr>
        <p:spPr>
          <a:xfrm>
            <a:off x="5120640" y="422452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email de confirmation est envoyé automatiquement</a:t>
            </a:r>
            <a:endParaRPr lang="en-US" sz="950" dirty="0"/>
          </a:p>
        </p:txBody>
      </p:sp>
      <p:sp>
        <p:nvSpPr>
          <p:cNvPr id="69" name="Shape 63"/>
          <p:cNvSpPr/>
          <p:nvPr/>
        </p:nvSpPr>
        <p:spPr>
          <a:xfrm>
            <a:off x="4846320" y="4581144"/>
            <a:ext cx="201168" cy="201168"/>
          </a:xfrm>
          <a:prstGeom prst="line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70" name="Text 64"/>
          <p:cNvSpPr/>
          <p:nvPr/>
        </p:nvSpPr>
        <p:spPr>
          <a:xfrm>
            <a:off x="4846320" y="458114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71" name="Text 65"/>
          <p:cNvSpPr/>
          <p:nvPr/>
        </p:nvSpPr>
        <p:spPr>
          <a:xfrm>
            <a:off x="5120640" y="4562856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lien Google Meet est partagé via la plateforme</a:t>
            </a:r>
            <a:endParaRPr lang="en-US" sz="9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41148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64008"/>
            <a:ext cx="8412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Diagramme de Classes UML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65760" y="621792"/>
            <a:ext cx="9191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6181344" y="5001768"/>
            <a:ext cx="16276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isRead: bool</a:t>
            </a:r>
            <a:endParaRPr lang="en-US" sz="750" dirty="0"/>
          </a:p>
        </p:txBody>
      </p:sp>
      <p:pic>
        <p:nvPicPr>
          <p:cNvPr id="86" name="Image 8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636" y="502920"/>
            <a:ext cx="8182939" cy="4640580"/>
          </a:xfrm>
          <a:prstGeom prst="rect">
            <a:avLst/>
          </a:prstGeom>
        </p:spPr>
      </p:pic>
      <p:sp>
        <p:nvSpPr>
          <p:cNvPr id="87" name="ZoneTexte 86"/>
          <p:cNvSpPr txBox="1"/>
          <p:nvPr/>
        </p:nvSpPr>
        <p:spPr>
          <a:xfrm>
            <a:off x="0" y="704850"/>
            <a:ext cx="4086225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kern="0" spc="150" dirty="0">
                <a:solidFill>
                  <a:srgbClr val="1E8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3 — DIAGRAMME DE CLASSES</a:t>
            </a:r>
            <a:endParaRPr lang="en-US" sz="1600" dirty="0">
              <a:solidFill>
                <a:srgbClr val="1E88E5"/>
              </a:solidFill>
            </a:endParaRPr>
          </a:p>
          <a:p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41148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64008"/>
            <a:ext cx="8412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Technique — Application 3-Tiers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621792"/>
            <a:ext cx="2272284" cy="256032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621792"/>
            <a:ext cx="22722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4 — ARCHITECTURE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960120"/>
            <a:ext cx="2743200" cy="37947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960120"/>
            <a:ext cx="2743200" cy="77724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" y="1115568"/>
            <a:ext cx="457200" cy="4572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60120" y="10058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960120" y="1380744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React.js + Tailwind CSS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11480" y="1847088"/>
            <a:ext cx="2560320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11480" y="1847088"/>
            <a:ext cx="36576" cy="50292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21208" y="184708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monopage (SPA) en React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11480" y="2414016"/>
            <a:ext cx="25603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11480" y="2414016"/>
            <a:ext cx="36576" cy="50292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21208" y="2414016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avec React Router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11480" y="2980944"/>
            <a:ext cx="2560320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11480" y="2980944"/>
            <a:ext cx="36576" cy="50292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21208" y="2980944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Appels API avec Axios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11480" y="3547872"/>
            <a:ext cx="25603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11480" y="3547872"/>
            <a:ext cx="36576" cy="50292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21208" y="354787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Graphiques de progression avec Recharts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11480" y="4114800"/>
            <a:ext cx="2560320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11480" y="4114800"/>
            <a:ext cx="36576" cy="502920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21208" y="411480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responsive (mobile et desktop)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3337560" y="960120"/>
            <a:ext cx="2743200" cy="37947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3337560" y="960120"/>
            <a:ext cx="2743200" cy="77724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pic>
        <p:nvPicPr>
          <p:cNvPr id="3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7288" y="1115568"/>
            <a:ext cx="457200" cy="457200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3977640" y="10058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300" dirty="0"/>
          </a:p>
        </p:txBody>
      </p:sp>
      <p:sp>
        <p:nvSpPr>
          <p:cNvPr id="32" name="Text 28"/>
          <p:cNvSpPr/>
          <p:nvPr/>
        </p:nvSpPr>
        <p:spPr>
          <a:xfrm>
            <a:off x="3977640" y="1380744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REST Framework (Python)</a:t>
            </a:r>
            <a:endParaRPr lang="en-US" sz="900" dirty="0"/>
          </a:p>
        </p:txBody>
      </p:sp>
      <p:sp>
        <p:nvSpPr>
          <p:cNvPr id="33" name="Shape 29"/>
          <p:cNvSpPr/>
          <p:nvPr/>
        </p:nvSpPr>
        <p:spPr>
          <a:xfrm>
            <a:off x="3429000" y="1847088"/>
            <a:ext cx="2560320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3429000" y="1847088"/>
            <a:ext cx="36576" cy="50292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3538728" y="184708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RESTful avec authentification JWT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3429000" y="2414016"/>
            <a:ext cx="25603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3429000" y="2414016"/>
            <a:ext cx="36576" cy="50292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3538728" y="2414016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 de rôles : Client et Coach</a:t>
            </a:r>
            <a:endParaRPr lang="en-US" sz="900" dirty="0"/>
          </a:p>
        </p:txBody>
      </p:sp>
      <p:sp>
        <p:nvSpPr>
          <p:cNvPr id="39" name="Shape 35"/>
          <p:cNvSpPr/>
          <p:nvPr/>
        </p:nvSpPr>
        <p:spPr>
          <a:xfrm>
            <a:off x="3429000" y="2980944"/>
            <a:ext cx="2560320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3429000" y="2980944"/>
            <a:ext cx="36576" cy="50292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3538728" y="2980944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Logique métier : programmes, séances, progression</a:t>
            </a:r>
            <a:endParaRPr lang="en-US" sz="900" dirty="0"/>
          </a:p>
        </p:txBody>
      </p:sp>
      <p:sp>
        <p:nvSpPr>
          <p:cNvPr id="42" name="Shape 38"/>
          <p:cNvSpPr/>
          <p:nvPr/>
        </p:nvSpPr>
        <p:spPr>
          <a:xfrm>
            <a:off x="3429000" y="3547872"/>
            <a:ext cx="25603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3429000" y="3547872"/>
            <a:ext cx="36576" cy="50292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3538728" y="354787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emails de confirmation</a:t>
            </a:r>
            <a:endParaRPr lang="en-US" sz="900" dirty="0"/>
          </a:p>
        </p:txBody>
      </p:sp>
      <p:sp>
        <p:nvSpPr>
          <p:cNvPr id="45" name="Shape 41"/>
          <p:cNvSpPr/>
          <p:nvPr/>
        </p:nvSpPr>
        <p:spPr>
          <a:xfrm>
            <a:off x="3429000" y="4114800"/>
            <a:ext cx="2560320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3429000" y="4114800"/>
            <a:ext cx="36576" cy="50292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3538728" y="411480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API (Swagger)</a:t>
            </a:r>
            <a:endParaRPr lang="en-US" sz="900" dirty="0"/>
          </a:p>
        </p:txBody>
      </p:sp>
      <p:sp>
        <p:nvSpPr>
          <p:cNvPr id="48" name="Shape 44"/>
          <p:cNvSpPr/>
          <p:nvPr/>
        </p:nvSpPr>
        <p:spPr>
          <a:xfrm>
            <a:off x="6355080" y="960120"/>
            <a:ext cx="2743200" cy="379476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  <a:effectLst>
            <a:outerShdw blurRad="889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9" name="Shape 45"/>
          <p:cNvSpPr/>
          <p:nvPr/>
        </p:nvSpPr>
        <p:spPr>
          <a:xfrm>
            <a:off x="6355080" y="960120"/>
            <a:ext cx="2743200" cy="77724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pic>
        <p:nvPicPr>
          <p:cNvPr id="5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4808" y="1115568"/>
            <a:ext cx="457200" cy="457200"/>
          </a:xfrm>
          <a:prstGeom prst="rect">
            <a:avLst/>
          </a:prstGeom>
        </p:spPr>
      </p:pic>
      <p:sp>
        <p:nvSpPr>
          <p:cNvPr id="51" name="Text 46"/>
          <p:cNvSpPr/>
          <p:nvPr/>
        </p:nvSpPr>
        <p:spPr>
          <a:xfrm>
            <a:off x="6995160" y="10058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DONNÉES</a:t>
            </a:r>
            <a:endParaRPr lang="en-US" sz="1300" dirty="0"/>
          </a:p>
        </p:txBody>
      </p:sp>
      <p:sp>
        <p:nvSpPr>
          <p:cNvPr id="52" name="Text 47"/>
          <p:cNvSpPr/>
          <p:nvPr/>
        </p:nvSpPr>
        <p:spPr>
          <a:xfrm>
            <a:off x="6995160" y="1380744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900" dirty="0"/>
          </a:p>
        </p:txBody>
      </p:sp>
      <p:sp>
        <p:nvSpPr>
          <p:cNvPr id="53" name="Shape 48"/>
          <p:cNvSpPr/>
          <p:nvPr/>
        </p:nvSpPr>
        <p:spPr>
          <a:xfrm>
            <a:off x="6446520" y="1847088"/>
            <a:ext cx="2560320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54" name="Shape 49"/>
          <p:cNvSpPr/>
          <p:nvPr/>
        </p:nvSpPr>
        <p:spPr>
          <a:xfrm>
            <a:off x="6446520" y="1847088"/>
            <a:ext cx="36576" cy="50292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6556248" y="184708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Schéma relationnel normalisé</a:t>
            </a:r>
            <a:endParaRPr lang="en-US" sz="900" dirty="0"/>
          </a:p>
        </p:txBody>
      </p:sp>
      <p:sp>
        <p:nvSpPr>
          <p:cNvPr id="56" name="Shape 51"/>
          <p:cNvSpPr/>
          <p:nvPr/>
        </p:nvSpPr>
        <p:spPr>
          <a:xfrm>
            <a:off x="6446520" y="2414016"/>
            <a:ext cx="25603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57" name="Shape 52"/>
          <p:cNvSpPr/>
          <p:nvPr/>
        </p:nvSpPr>
        <p:spPr>
          <a:xfrm>
            <a:off x="6446520" y="2414016"/>
            <a:ext cx="36576" cy="50292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58" name="Text 53"/>
          <p:cNvSpPr/>
          <p:nvPr/>
        </p:nvSpPr>
        <p:spPr>
          <a:xfrm>
            <a:off x="6556248" y="2414016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Intégrité référentielle entre toutes les entités</a:t>
            </a:r>
            <a:endParaRPr lang="en-US" sz="900" dirty="0"/>
          </a:p>
        </p:txBody>
      </p:sp>
      <p:sp>
        <p:nvSpPr>
          <p:cNvPr id="59" name="Shape 54"/>
          <p:cNvSpPr/>
          <p:nvPr/>
        </p:nvSpPr>
        <p:spPr>
          <a:xfrm>
            <a:off x="6446520" y="2980944"/>
            <a:ext cx="2560320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6446520" y="2980944"/>
            <a:ext cx="36576" cy="50292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6556248" y="2980944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Migrations gérées via Django ORM</a:t>
            </a:r>
            <a:endParaRPr lang="en-US" sz="900" dirty="0"/>
          </a:p>
        </p:txBody>
      </p:sp>
      <p:sp>
        <p:nvSpPr>
          <p:cNvPr id="62" name="Shape 57"/>
          <p:cNvSpPr/>
          <p:nvPr/>
        </p:nvSpPr>
        <p:spPr>
          <a:xfrm>
            <a:off x="6446520" y="3547872"/>
            <a:ext cx="25603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63" name="Shape 58"/>
          <p:cNvSpPr/>
          <p:nvPr/>
        </p:nvSpPr>
        <p:spPr>
          <a:xfrm>
            <a:off x="6446520" y="3547872"/>
            <a:ext cx="36576" cy="50292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64" name="Text 59"/>
          <p:cNvSpPr/>
          <p:nvPr/>
        </p:nvSpPr>
        <p:spPr>
          <a:xfrm>
            <a:off x="6556248" y="354787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Stockage des médias en local ou cloud</a:t>
            </a:r>
            <a:endParaRPr lang="en-US" sz="900" dirty="0"/>
          </a:p>
        </p:txBody>
      </p:sp>
      <p:sp>
        <p:nvSpPr>
          <p:cNvPr id="65" name="Shape 60"/>
          <p:cNvSpPr/>
          <p:nvPr/>
        </p:nvSpPr>
        <p:spPr>
          <a:xfrm>
            <a:off x="6446520" y="4114800"/>
            <a:ext cx="2560320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66" name="Shape 61"/>
          <p:cNvSpPr/>
          <p:nvPr/>
        </p:nvSpPr>
        <p:spPr>
          <a:xfrm>
            <a:off x="6446520" y="4114800"/>
            <a:ext cx="36576" cy="502920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6556248" y="411480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Requêtes optimisées avec les ORM de Django</a:t>
            </a:r>
            <a:endParaRPr lang="en-US" sz="900" dirty="0"/>
          </a:p>
        </p:txBody>
      </p:sp>
      <p:sp>
        <p:nvSpPr>
          <p:cNvPr id="68" name="Shape 63"/>
          <p:cNvSpPr/>
          <p:nvPr/>
        </p:nvSpPr>
        <p:spPr>
          <a:xfrm>
            <a:off x="3063240" y="2743200"/>
            <a:ext cx="274320" cy="0"/>
          </a:xfrm>
          <a:prstGeom prst="line">
            <a:avLst/>
          </a:prstGeom>
          <a:noFill/>
          <a:ln w="19050">
            <a:solidFill>
              <a:srgbClr val="1565C0"/>
            </a:solidFill>
            <a:prstDash val="solid"/>
          </a:ln>
        </p:spPr>
      </p:sp>
      <p:sp>
        <p:nvSpPr>
          <p:cNvPr id="69" name="Shape 64"/>
          <p:cNvSpPr/>
          <p:nvPr/>
        </p:nvSpPr>
        <p:spPr>
          <a:xfrm>
            <a:off x="6080760" y="2743200"/>
            <a:ext cx="274320" cy="0"/>
          </a:xfrm>
          <a:prstGeom prst="line">
            <a:avLst/>
          </a:prstGeom>
          <a:noFill/>
          <a:ln w="19050">
            <a:solidFill>
              <a:srgbClr val="00ACC1"/>
            </a:solidFill>
            <a:prstDash val="solid"/>
          </a:ln>
        </p:spPr>
      </p:sp>
      <p:sp>
        <p:nvSpPr>
          <p:cNvPr id="70" name="Text 65"/>
          <p:cNvSpPr/>
          <p:nvPr/>
        </p:nvSpPr>
        <p:spPr>
          <a:xfrm>
            <a:off x="3072384" y="257860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</a:t>
            </a:r>
            <a:endParaRPr lang="en-US" sz="700" dirty="0"/>
          </a:p>
        </p:txBody>
      </p:sp>
      <p:sp>
        <p:nvSpPr>
          <p:cNvPr id="71" name="Text 66"/>
          <p:cNvSpPr/>
          <p:nvPr/>
        </p:nvSpPr>
        <p:spPr>
          <a:xfrm>
            <a:off x="6089904" y="257860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</a:t>
            </a:r>
            <a:endParaRPr lang="en-US" sz="7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1122"/>
          </a:solidFill>
          <a:ln w="12700">
            <a:solidFill>
              <a:srgbClr val="0611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749040" y="256032"/>
            <a:ext cx="1645920" cy="1645920"/>
          </a:xfrm>
          <a:prstGeom prst="line">
            <a:avLst/>
          </a:prstGeom>
          <a:solidFill>
            <a:srgbClr val="FFB300">
              <a:alpha val="30000"/>
            </a:srgbClr>
          </a:solidFill>
          <a:ln w="12700">
            <a:solidFill>
              <a:srgbClr val="FFB300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365760"/>
            <a:ext cx="1280160" cy="12801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1691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Bilan &amp; Conclusion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914400" y="2377440"/>
            <a:ext cx="7315200" cy="475488"/>
          </a:xfrm>
          <a:prstGeom prst="rect">
            <a:avLst/>
          </a:prstGeom>
          <a:solidFill>
            <a:srgbClr val="0D1F3C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2377440"/>
            <a:ext cx="59436" cy="475488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244144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17320" y="2377440"/>
            <a:ext cx="6720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concret répondant à un besoin réel : centraliser le coaching sportif en ligne.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914400" y="2926080"/>
            <a:ext cx="7315200" cy="475488"/>
          </a:xfrm>
          <a:prstGeom prst="rect">
            <a:avLst/>
          </a:prstGeom>
          <a:solidFill>
            <a:srgbClr val="0D1F3C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914400" y="2926080"/>
            <a:ext cx="59436" cy="475488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2990088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17320" y="2926080"/>
            <a:ext cx="6720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full-stack : frontend React, backend Django REST, base de données MySQL.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14400" y="3474720"/>
            <a:ext cx="7315200" cy="475488"/>
          </a:xfrm>
          <a:prstGeom prst="rect">
            <a:avLst/>
          </a:prstGeom>
          <a:solidFill>
            <a:srgbClr val="0D1F3C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14400" y="3474720"/>
            <a:ext cx="59436" cy="475488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3538728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17320" y="3474720"/>
            <a:ext cx="6720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Couvre tout le cycle du coaching : programmes, suivi, messagerie et rendez-vous vidéo.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914400" y="4023360"/>
            <a:ext cx="7315200" cy="475488"/>
          </a:xfrm>
          <a:prstGeom prst="rect">
            <a:avLst/>
          </a:prstGeom>
          <a:solidFill>
            <a:srgbClr val="0D1F3C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914400" y="4023360"/>
            <a:ext cx="59436" cy="475488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4087368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17320" y="4023360"/>
            <a:ext cx="6720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modulaire et extensible — prête pour de futures améliorations et fonctionnalités.</a:t>
            </a:r>
            <a:endParaRPr lang="en-US" sz="1100" dirty="0"/>
          </a:p>
        </p:txBody>
      </p:sp>
      <p:sp>
        <p:nvSpPr>
          <p:cNvPr id="24" name="Text 17"/>
          <p:cNvSpPr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de votre </a:t>
            </a:r>
            <a:r>
              <a:rPr lang="en-US" sz="1300" i="1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</a:t>
            </a:r>
            <a:endParaRPr lang="en-US" sz="13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771</TotalTime>
  <Words>1491</Words>
  <Application>Microsoft Office PowerPoint</Application>
  <PresentationFormat>Affichage à l'écran (16:9)</PresentationFormat>
  <Paragraphs>305</Paragraphs>
  <Slides>15</Slides>
  <Notes>15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Online Sports Coaching Platform – PFE Defense</dc:title>
  <dc:subject>PptxGenJS Presentation</dc:subject>
  <dc:creator>PptxGenJS</dc:creator>
  <cp:lastModifiedBy>USER</cp:lastModifiedBy>
  <cp:revision>11</cp:revision>
  <dcterms:created xsi:type="dcterms:W3CDTF">2026-04-12T11:16:13Z</dcterms:created>
  <dcterms:modified xsi:type="dcterms:W3CDTF">2026-04-23T18:08:41Z</dcterms:modified>
</cp:coreProperties>
</file>